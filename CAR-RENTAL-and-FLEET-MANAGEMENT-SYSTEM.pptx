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Radio Canada SemiBold"/>
      <p:regular r:id="rId201314"/>
    </p:embeddedFont>
    <p:embeddedFont>
      <p:font typeface="Radio Canada Bold"/>
      <p:regular r:id="rId201315"/>
    </p:embeddedFont>
    <p:embeddedFont>
      <p:font typeface="Radio Canada"/>
      <p:regular r:id="rId201316"/>
    </p:embeddedFont>
    <p:embeddedFont>
      <p:font typeface="Radio Canada Big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gd name="adj" fmla="val 2833"/>
            </a:avLst>
          </a:prstGeom>
          <a:solidFill>
            <a:srgbClr val="E3F4F1"/>
          </a:solidFill>
          <a:ln/>
        </p:spPr>
      </p:sp>
      <p:pic>
        <p:nvPicPr>
          <p:cNvPr id="3"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FFFFFF"/>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5.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09585" y="762000"/>
            <a:ext cx="6603835" cy="5842000"/>
          </a:xfrm>
          <a:prstGeom prst="roundRect">
            <a:avLst>
              <a:gd name="adj" fmla="val 3326"/>
            </a:avLst>
          </a:prstGeom>
          <a:solidFill>
            <a:srgbClr val="FFFFFF"/>
          </a:solidFill>
          <a:ln/>
        </p:spPr>
      </p:sp>
      <p:sp>
        <p:nvSpPr>
          <p:cNvPr id="3" name="Text 1"/>
          <p:cNvSpPr/>
          <p:nvPr/>
        </p:nvSpPr>
        <p:spPr>
          <a:xfrm>
            <a:off x="1041374" y="1144615"/>
            <a:ext cx="6349841" cy="213320"/>
          </a:xfrm>
          <a:prstGeom prst="rect">
            <a:avLst/>
          </a:prstGeom>
          <a:noFill/>
          <a:ln/>
        </p:spPr>
        <p:txBody>
          <a:bodyPr wrap="none" lIns="0" tIns="0" rIns="0" bIns="0" rtlCol="0" anchor="t"/>
          <a:lstStyle/>
          <a:p>
            <a:pPr algn="l" indent="0" marL="0">
              <a:lnSpc>
                <a:spcPct val="100000"/>
              </a:lnSpc>
              <a:buNone/>
            </a:pPr>
            <a:r>
              <a:rPr lang="en-US" sz="1400" spc="14" kern="100" dirty="0">
                <a:solidFill>
                  <a:srgbClr val="0B2A33"/>
                </a:solidFill>
                <a:latin typeface="Radio Canada SemiBold" pitchFamily="34" charset="0"/>
                <a:ea typeface="Radio Canada SemiBold" pitchFamily="34" charset="-122"/>
                <a:cs typeface="Radio Canada SemiBold" pitchFamily="34" charset="-120"/>
              </a:rPr>
              <a:t>CAPSTONE PROJECT</a:t>
            </a:r>
            <a:endParaRPr lang="en-US" sz="1400" dirty="0"/>
          </a:p>
        </p:txBody>
      </p:sp>
      <p:sp>
        <p:nvSpPr>
          <p:cNvPr id="4" name="Text 2"/>
          <p:cNvSpPr/>
          <p:nvPr/>
        </p:nvSpPr>
        <p:spPr>
          <a:xfrm>
            <a:off x="1041374" y="1646452"/>
            <a:ext cx="5740256" cy="2901553"/>
          </a:xfrm>
          <a:prstGeom prst="rect">
            <a:avLst/>
          </a:prstGeom>
          <a:noFill/>
          <a:ln/>
        </p:spPr>
        <p:txBody>
          <a:bodyPr wrap="square" lIns="0" tIns="0" rIns="0" bIns="0" rtlCol="0" anchor="t">
            <a:normAutofit/>
          </a:bodyPr>
          <a:lstStyle/>
          <a:p>
            <a:pPr algn="l" indent="0" marL="0">
              <a:lnSpc>
                <a:spcPct val="85000"/>
              </a:lnSpc>
              <a:buNone/>
            </a:pPr>
            <a:r>
              <a:rPr lang="en-US" sz="5600" b="1" spc="-84" kern="100" dirty="0">
                <a:solidFill>
                  <a:srgbClr val="0B2A33"/>
                </a:solidFill>
                <a:latin typeface="Radio Canada Big Bold" pitchFamily="34" charset="0"/>
                <a:ea typeface="Radio Canada Big Bold" pitchFamily="34" charset="-122"/>
                <a:cs typeface="Radio Canada Big Bold" pitchFamily="34" charset="-120"/>
              </a:rPr>
              <a:t>CAR RENTAL &amp; FLEET MANAGEMENT SYSTEM</a:t>
            </a:r>
            <a:endParaRPr lang="en-US" sz="5600" dirty="0"/>
          </a:p>
        </p:txBody>
      </p:sp>
      <p:sp>
        <p:nvSpPr>
          <p:cNvPr id="5" name="Text 3"/>
          <p:cNvSpPr/>
          <p:nvPr/>
        </p:nvSpPr>
        <p:spPr>
          <a:xfrm>
            <a:off x="1041374" y="4792889"/>
            <a:ext cx="6349841" cy="213320"/>
          </a:xfrm>
          <a:prstGeom prst="rect">
            <a:avLst/>
          </a:prstGeom>
          <a:noFill/>
          <a:ln/>
        </p:spPr>
        <p:txBody>
          <a:bodyPr wrap="none" lIns="0" tIns="0" rIns="0" bIns="0" rtlCol="0" anchor="t"/>
          <a:lstStyle/>
          <a:p>
            <a:pPr algn="l" indent="0" marL="0">
              <a:lnSpc>
                <a:spcPct val="100000"/>
              </a:lnSpc>
              <a:buNone/>
            </a:pPr>
            <a:r>
              <a:rPr lang="en-US" sz="1400" spc="14" kern="100" dirty="0">
                <a:solidFill>
                  <a:srgbClr val="0B2A33"/>
                </a:solidFill>
                <a:latin typeface="Radio Canada SemiBold" pitchFamily="34" charset="0"/>
                <a:ea typeface="Radio Canada SemiBold" pitchFamily="34" charset="-122"/>
                <a:cs typeface="Radio Canada SemiBold" pitchFamily="34" charset="-120"/>
              </a:rPr>
              <a:t>TEAM MEMBERS</a:t>
            </a:r>
            <a:endParaRPr lang="en-US" sz="1400" dirty="0"/>
          </a:p>
        </p:txBody>
      </p:sp>
      <p:sp>
        <p:nvSpPr>
          <p:cNvPr id="6" name="Text 4"/>
          <p:cNvSpPr/>
          <p:nvPr/>
        </p:nvSpPr>
        <p:spPr>
          <a:xfrm>
            <a:off x="1041374" y="5198269"/>
            <a:ext cx="5740256" cy="1326455"/>
          </a:xfrm>
          <a:prstGeom prst="rect">
            <a:avLst/>
          </a:prstGeom>
          <a:noFill/>
          <a:ln/>
        </p:spPr>
        <p:txBody>
          <a:bodyPr wrap="square" lIns="0" tIns="0" rIns="0" bIns="0" rtlCol="0" anchor="t"/>
          <a:lstStyle/>
          <a:p>
            <a:pPr algn="l" indent="0" marL="0">
              <a:lnSpc>
                <a:spcPct val="121000"/>
              </a:lnSpc>
              <a:spcAft>
                <a:spcPts val="1500"/>
              </a:spcAft>
              <a:buNone/>
            </a:pPr>
            <a:r>
              <a:rPr lang="en-US" sz="1700" b="1" dirty="0">
                <a:solidFill>
                  <a:srgbClr val="000000"/>
                </a:solidFill>
                <a:latin typeface="Radio Canada Bold" pitchFamily="34" charset="0"/>
                <a:ea typeface="Radio Canada Bold" pitchFamily="34" charset="-122"/>
                <a:cs typeface="Radio Canada Bold" pitchFamily="34" charset="-120"/>
              </a:rPr>
              <a:t>Vijay</a:t>
            </a:r>
            <a:pPr algn="l" indent="0" marL="0">
              <a:lnSpc>
                <a:spcPct val="121000"/>
              </a:lnSpc>
              <a:spcAft>
                <a:spcPts val="1500"/>
              </a:spcAft>
              <a:buNone/>
            </a:pPr>
            <a:r>
              <a:rPr lang="en-US" sz="1700" dirty="0">
                <a:solidFill>
                  <a:srgbClr val="000000"/>
                </a:solidFill>
                <a:latin typeface="Radio Canada" pitchFamily="34" charset="0"/>
                <a:ea typeface="Radio Canada" pitchFamily="34" charset="-122"/>
                <a:cs typeface="Radio Canada" pitchFamily="34" charset="-120"/>
              </a:rPr>
              <a:t> — 2620030270</a:t>
            </a:r>
            <a:endParaRPr lang="en-US" sz="1700" dirty="0"/>
          </a:p>
          <a:p>
            <a:pPr algn="l" indent="0" marL="0">
              <a:lnSpc>
                <a:spcPct val="121000"/>
              </a:lnSpc>
              <a:spcAft>
                <a:spcPts val="1500"/>
              </a:spcAft>
              <a:buNone/>
            </a:pPr>
            <a:r>
              <a:rPr lang="en-US" sz="1700" b="1" dirty="0">
                <a:solidFill>
                  <a:srgbClr val="000000"/>
                </a:solidFill>
                <a:latin typeface="Radio Canada Bold" pitchFamily="34" charset="0"/>
                <a:ea typeface="Radio Canada Bold" pitchFamily="34" charset="-122"/>
                <a:cs typeface="Radio Canada Bold" pitchFamily="34" charset="-120"/>
              </a:rPr>
              <a:t>Dilip Choyal</a:t>
            </a:r>
            <a:pPr algn="l" indent="0" marL="0">
              <a:lnSpc>
                <a:spcPct val="121000"/>
              </a:lnSpc>
              <a:spcAft>
                <a:spcPts val="1500"/>
              </a:spcAft>
              <a:buNone/>
            </a:pPr>
            <a:r>
              <a:rPr lang="en-US" sz="1700" dirty="0">
                <a:solidFill>
                  <a:srgbClr val="000000"/>
                </a:solidFill>
                <a:latin typeface="Radio Canada" pitchFamily="34" charset="0"/>
                <a:ea typeface="Radio Canada" pitchFamily="34" charset="-122"/>
                <a:cs typeface="Radio Canada" pitchFamily="34" charset="-120"/>
              </a:rPr>
              <a:t> — 2620090094</a:t>
            </a:r>
            <a:endParaRPr lang="en-US" sz="1700" dirty="0"/>
          </a:p>
          <a:p>
            <a:pPr algn="l" indent="0" marL="0">
              <a:lnSpc>
                <a:spcPct val="121000"/>
              </a:lnSpc>
              <a:buNone/>
            </a:pPr>
            <a:r>
              <a:rPr lang="en-US" sz="1700" i="1" dirty="0">
                <a:solidFill>
                  <a:srgbClr val="000000"/>
                </a:solidFill>
                <a:latin typeface="Radio Canada" pitchFamily="34" charset="0"/>
                <a:ea typeface="Radio Canada" pitchFamily="34" charset="-122"/>
                <a:cs typeface="Radio Canada" pitchFamily="34" charset="-120"/>
              </a:rPr>
              <a:t>Section 2</a:t>
            </a:r>
            <a:endParaRPr lang="en-US" sz="1700" dirty="0"/>
          </a:p>
        </p:txBody>
      </p:sp>
      <p:pic>
        <p:nvPicPr>
          <p:cNvPr id="7" name="Image 0" descr="preencoded.png">    </p:cNvPr>
          <p:cNvPicPr>
            <a:picLocks noChangeAspect="1"/>
          </p:cNvPicPr>
          <p:nvPr/>
        </p:nvPicPr>
        <p:blipFill>
          <a:blip r:embed="rId1"/>
          <a:stretch>
            <a:fillRect/>
          </a:stretch>
        </p:blipFill>
        <p:spPr>
          <a:xfrm>
            <a:off x="11124922" y="228600"/>
            <a:ext cx="761981" cy="762000"/>
          </a:xfrm>
          <a:prstGeom prst="rect">
            <a:avLst/>
          </a:prstGeom>
        </p:spPr>
      </p:pic>
      <p:pic>
        <p:nvPicPr>
          <p:cNvPr id="8" name="Image 1" descr="preencoded.png">    </p:cNvPr>
          <p:cNvPicPr>
            <a:picLocks noChangeAspect="1"/>
          </p:cNvPicPr>
          <p:nvPr/>
        </p:nvPicPr>
        <p:blipFill>
          <a:blip r:embed="rId2"/>
          <a:stretch>
            <a:fillRect/>
          </a:stretch>
        </p:blipFill>
        <p:spPr>
          <a:xfrm>
            <a:off x="11124922" y="228600"/>
            <a:ext cx="761981" cy="76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7987" y="544386"/>
            <a:ext cx="11175720" cy="521196"/>
          </a:xfrm>
          <a:prstGeom prst="rect">
            <a:avLst/>
          </a:prstGeom>
          <a:noFill/>
          <a:ln/>
        </p:spPr>
        <p:txBody>
          <a:bodyPr wrap="none" lIns="0" tIns="0" rIns="0" bIns="0" rtlCol="0" anchor="t"/>
          <a:lstStyle/>
          <a:p>
            <a:pPr algn="l" indent="0" marL="0">
              <a:lnSpc>
                <a:spcPct val="90000"/>
              </a:lnSpc>
              <a:buNone/>
            </a:pPr>
            <a:r>
              <a:rPr lang="en-US" sz="3800" b="1" spc="-38" kern="100" dirty="0">
                <a:solidFill>
                  <a:srgbClr val="000000"/>
                </a:solidFill>
                <a:latin typeface="Radio Canada Big Bold" pitchFamily="34" charset="0"/>
                <a:ea typeface="Radio Canada Big Bold" pitchFamily="34" charset="-122"/>
                <a:cs typeface="Radio Canada Big Bold" pitchFamily="34" charset="-120"/>
              </a:rPr>
              <a:t>ABSTRACT</a:t>
            </a:r>
            <a:endParaRPr lang="en-US" sz="3800" dirty="0"/>
          </a:p>
        </p:txBody>
      </p:sp>
      <p:sp>
        <p:nvSpPr>
          <p:cNvPr id="3" name="Text 1"/>
          <p:cNvSpPr/>
          <p:nvPr/>
        </p:nvSpPr>
        <p:spPr>
          <a:xfrm>
            <a:off x="507987" y="1245096"/>
            <a:ext cx="11175720" cy="1252141"/>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000000"/>
                </a:solidFill>
                <a:latin typeface="Radio Canada" pitchFamily="34" charset="0"/>
                <a:ea typeface="Radio Canada" pitchFamily="34" charset="-122"/>
                <a:cs typeface="Radio Canada" pitchFamily="34" charset="-120"/>
              </a:rPr>
              <a:t>A Car Rental Fleet Management System is designed to efficiently manage rental cars, customer details, bookings, and vehicle availability. The system helps track vehicles, rental periods, payments, and maintenance records in an organized way. It reduces manual work, avoids booking conflicts, and makes fleet management faster and easier for both customers and rental companies.</a:t>
            </a:r>
            <a:endParaRPr lang="en-US" sz="1700" dirty="0"/>
          </a:p>
        </p:txBody>
      </p:sp>
      <p:pic>
        <p:nvPicPr>
          <p:cNvPr id="4" name="Image 0" descr="preencoded.png">    </p:cNvPr>
          <p:cNvPicPr>
            <a:picLocks noChangeAspect="1"/>
          </p:cNvPicPr>
          <p:nvPr/>
        </p:nvPicPr>
        <p:blipFill>
          <a:blip r:embed="rId1"/>
          <a:stretch>
            <a:fillRect/>
          </a:stretch>
        </p:blipFill>
        <p:spPr>
          <a:xfrm>
            <a:off x="11124922" y="228600"/>
            <a:ext cx="761981" cy="762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943451" cy="6858000"/>
          </a:xfrm>
          <a:prstGeom prst="roundRect">
            <a:avLst>
              <a:gd name="adj" fmla="val 3269"/>
            </a:avLst>
          </a:prstGeom>
          <a:solidFill>
            <a:srgbClr val="E3F4F1"/>
          </a:solidFill>
          <a:ln/>
        </p:spPr>
      </p:sp>
      <p:sp>
        <p:nvSpPr>
          <p:cNvPr id="3" name="Text 1"/>
          <p:cNvSpPr/>
          <p:nvPr/>
        </p:nvSpPr>
        <p:spPr>
          <a:xfrm>
            <a:off x="507987" y="544386"/>
            <a:ext cx="4927477" cy="521196"/>
          </a:xfrm>
          <a:prstGeom prst="rect">
            <a:avLst/>
          </a:prstGeom>
          <a:noFill/>
          <a:ln/>
        </p:spPr>
        <p:txBody>
          <a:bodyPr wrap="none" lIns="0" tIns="0" rIns="0" bIns="0" rtlCol="0" anchor="t"/>
          <a:lstStyle/>
          <a:p>
            <a:pPr algn="l" indent="0" marL="0">
              <a:lnSpc>
                <a:spcPct val="90000"/>
              </a:lnSpc>
              <a:buNone/>
            </a:pPr>
            <a:r>
              <a:rPr lang="en-US" sz="3800" b="1" spc="-38" kern="100" dirty="0">
                <a:solidFill>
                  <a:srgbClr val="000000"/>
                </a:solidFill>
                <a:latin typeface="Radio Canada Big Bold" pitchFamily="34" charset="0"/>
                <a:ea typeface="Radio Canada Big Bold" pitchFamily="34" charset="-122"/>
                <a:cs typeface="Radio Canada Big Bold" pitchFamily="34" charset="-120"/>
              </a:rPr>
              <a:t>PROJECT IDEA</a:t>
            </a:r>
            <a:endParaRPr lang="en-US" sz="3800" dirty="0"/>
          </a:p>
        </p:txBody>
      </p:sp>
      <p:sp>
        <p:nvSpPr>
          <p:cNvPr id="4" name="Text 2"/>
          <p:cNvSpPr/>
          <p:nvPr/>
        </p:nvSpPr>
        <p:spPr>
          <a:xfrm>
            <a:off x="507987" y="1245096"/>
            <a:ext cx="4927477" cy="626070"/>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000000"/>
                </a:solidFill>
                <a:latin typeface="Radio Canada" pitchFamily="34" charset="0"/>
                <a:ea typeface="Radio Canada" pitchFamily="34" charset="-122"/>
                <a:cs typeface="Radio Canada" pitchFamily="34" charset="-120"/>
              </a:rPr>
              <a:t>A centralized platform to manage car rentals, vehicles, maintenance, and billing efficiently</a:t>
            </a:r>
            <a:endParaRPr lang="en-US" sz="1700" dirty="0"/>
          </a:p>
        </p:txBody>
      </p:sp>
      <p:sp>
        <p:nvSpPr>
          <p:cNvPr id="5" name="Shape 3"/>
          <p:cNvSpPr/>
          <p:nvPr/>
        </p:nvSpPr>
        <p:spPr>
          <a:xfrm>
            <a:off x="6248244" y="0"/>
            <a:ext cx="5943451" cy="6858000"/>
          </a:xfrm>
          <a:prstGeom prst="roundRect">
            <a:avLst>
              <a:gd name="adj" fmla="val 3269"/>
            </a:avLst>
          </a:prstGeom>
          <a:solidFill>
            <a:srgbClr val="F3FBD6"/>
          </a:solidFill>
          <a:ln/>
        </p:spPr>
      </p:sp>
      <p:sp>
        <p:nvSpPr>
          <p:cNvPr id="6" name="Text 4"/>
          <p:cNvSpPr/>
          <p:nvPr/>
        </p:nvSpPr>
        <p:spPr>
          <a:xfrm>
            <a:off x="6756231" y="538480"/>
            <a:ext cx="4927477" cy="411460"/>
          </a:xfrm>
          <a:prstGeom prst="rect">
            <a:avLst/>
          </a:prstGeom>
          <a:noFill/>
          <a:ln/>
        </p:spPr>
        <p:txBody>
          <a:bodyPr wrap="none" lIns="0" tIns="0" rIns="0" bIns="0" rtlCol="0" anchor="t"/>
          <a:lstStyle/>
          <a:p>
            <a:pPr algn="l" indent="0" marL="0">
              <a:lnSpc>
                <a:spcPct val="90000"/>
              </a:lnSpc>
              <a:buNone/>
            </a:pPr>
            <a:r>
              <a:rPr lang="en-US" sz="3000" b="1" spc="-30" kern="100" dirty="0">
                <a:solidFill>
                  <a:srgbClr val="000000"/>
                </a:solidFill>
                <a:latin typeface="Radio Canada Big Bold" pitchFamily="34" charset="0"/>
                <a:ea typeface="Radio Canada Big Bold" pitchFamily="34" charset="-122"/>
                <a:cs typeface="Radio Canada Big Bold" pitchFamily="34" charset="-120"/>
              </a:rPr>
              <a:t>CHALLENGES</a:t>
            </a:r>
            <a:endParaRPr lang="en-US" sz="3000" dirty="0"/>
          </a:p>
        </p:txBody>
      </p:sp>
      <p:sp>
        <p:nvSpPr>
          <p:cNvPr id="7" name="Text 5"/>
          <p:cNvSpPr/>
          <p:nvPr/>
        </p:nvSpPr>
        <p:spPr>
          <a:xfrm>
            <a:off x="6756231" y="1135360"/>
            <a:ext cx="4927477" cy="2094111"/>
          </a:xfrm>
          <a:prstGeom prst="rect">
            <a:avLst/>
          </a:prstGeom>
          <a:noFill/>
          <a:ln/>
        </p:spPr>
        <p:txBody>
          <a:bodyPr wrap="square" lIns="0" tIns="0" rIns="0" bIns="0" rtlCol="0" anchor="t">
            <a:normAutofit/>
          </a:bodyPr>
          <a:lstStyle/>
          <a:p>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Small car rental companies depend on spreadsheets and manual tracking</a:t>
            </a:r>
            <a:endParaRPr lang="en-US" sz="1700" dirty="0"/>
          </a:p>
          <a:p>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Missed Maintenance</a:t>
            </a:r>
            <a:endParaRPr lang="en-US" sz="1700" dirty="0"/>
          </a:p>
          <a:p>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Booking Errors &amp; Conflicts</a:t>
            </a:r>
            <a:endParaRPr lang="en-US" sz="1700" dirty="0"/>
          </a:p>
          <a:p>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Poor Vehicle Tracking</a:t>
            </a:r>
            <a:endParaRPr lang="en-US" sz="1700" dirty="0"/>
          </a:p>
          <a:p>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Revenue Loss</a:t>
            </a:r>
            <a:endParaRPr lang="en-US" sz="1700" dirty="0"/>
          </a:p>
        </p:txBody>
      </p:sp>
      <p:pic>
        <p:nvPicPr>
          <p:cNvPr id="8" name="Image 0" descr="preencoded.png">    </p:cNvPr>
          <p:cNvPicPr>
            <a:picLocks noChangeAspect="1"/>
          </p:cNvPicPr>
          <p:nvPr/>
        </p:nvPicPr>
        <p:blipFill>
          <a:blip r:embed="rId1"/>
          <a:stretch>
            <a:fillRect/>
          </a:stretch>
        </p:blipFill>
        <p:spPr>
          <a:xfrm>
            <a:off x="11124922" y="228600"/>
            <a:ext cx="761981" cy="762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7987" y="509615"/>
            <a:ext cx="11683708" cy="213320"/>
          </a:xfrm>
          <a:prstGeom prst="rect">
            <a:avLst/>
          </a:prstGeom>
          <a:noFill/>
          <a:ln/>
        </p:spPr>
        <p:txBody>
          <a:bodyPr wrap="none" lIns="0" tIns="0" rIns="0" bIns="0" rtlCol="0" anchor="t"/>
          <a:lstStyle/>
          <a:p>
            <a:pPr algn="l" indent="0" marL="0">
              <a:lnSpc>
                <a:spcPct val="100000"/>
              </a:lnSpc>
              <a:buNone/>
            </a:pPr>
            <a:r>
              <a:rPr lang="en-US" sz="1400" spc="14" kern="100" dirty="0">
                <a:solidFill>
                  <a:srgbClr val="0F766E"/>
                </a:solidFill>
                <a:latin typeface="Radio Canada SemiBold" pitchFamily="34" charset="0"/>
                <a:ea typeface="Radio Canada SemiBold" pitchFamily="34" charset="-122"/>
                <a:cs typeface="Radio Canada SemiBold" pitchFamily="34" charset="-120"/>
              </a:rPr>
              <a:t>OUR SOLUTION</a:t>
            </a:r>
            <a:endParaRPr lang="en-US" sz="1400" dirty="0"/>
          </a:p>
        </p:txBody>
      </p:sp>
      <p:sp>
        <p:nvSpPr>
          <p:cNvPr id="3" name="Text 1"/>
          <p:cNvSpPr/>
          <p:nvPr/>
        </p:nvSpPr>
        <p:spPr>
          <a:xfrm>
            <a:off x="507987" y="843431"/>
            <a:ext cx="11175720" cy="521196"/>
          </a:xfrm>
          <a:prstGeom prst="rect">
            <a:avLst/>
          </a:prstGeom>
          <a:noFill/>
          <a:ln/>
        </p:spPr>
        <p:txBody>
          <a:bodyPr wrap="none" lIns="0" tIns="0" rIns="0" bIns="0" rtlCol="0" anchor="t"/>
          <a:lstStyle/>
          <a:p>
            <a:pPr algn="l" indent="0" marL="0">
              <a:lnSpc>
                <a:spcPct val="90000"/>
              </a:lnSpc>
              <a:buNone/>
            </a:pPr>
            <a:r>
              <a:rPr lang="en-US" sz="3800" b="1" spc="-38" kern="100" dirty="0">
                <a:solidFill>
                  <a:srgbClr val="0B2A33"/>
                </a:solidFill>
                <a:latin typeface="Radio Canada Big Bold" pitchFamily="34" charset="0"/>
                <a:ea typeface="Radio Canada Big Bold" pitchFamily="34" charset="-122"/>
                <a:cs typeface="Radio Canada Big Bold" pitchFamily="34" charset="-120"/>
              </a:rPr>
              <a:t>OUR SOLUTION</a:t>
            </a:r>
            <a:endParaRPr lang="en-US" sz="3800" dirty="0"/>
          </a:p>
        </p:txBody>
      </p:sp>
      <p:sp>
        <p:nvSpPr>
          <p:cNvPr id="4" name="Text 2"/>
          <p:cNvSpPr/>
          <p:nvPr/>
        </p:nvSpPr>
        <p:spPr>
          <a:xfrm>
            <a:off x="507987" y="1544141"/>
            <a:ext cx="11683708" cy="349845"/>
          </a:xfrm>
          <a:prstGeom prst="rect">
            <a:avLst/>
          </a:prstGeom>
          <a:noFill/>
          <a:ln/>
        </p:spPr>
        <p:txBody>
          <a:bodyPr wrap="none" lIns="0" tIns="0" rIns="0" bIns="0" rtlCol="0" anchor="t"/>
          <a:lstStyle/>
          <a:p>
            <a:pPr algn="l" indent="0" marL="0">
              <a:lnSpc>
                <a:spcPct val="121000"/>
              </a:lnSpc>
              <a:buNone/>
            </a:pPr>
            <a:r>
              <a:rPr lang="en-US" sz="1900" dirty="0">
                <a:solidFill>
                  <a:srgbClr val="0B2A33"/>
                </a:solidFill>
                <a:latin typeface="Radio Canada" pitchFamily="34" charset="0"/>
                <a:ea typeface="Radio Canada" pitchFamily="34" charset="-122"/>
                <a:cs typeface="Radio Canada" pitchFamily="34" charset="-120"/>
              </a:rPr>
              <a:t>FIVE CONNECTED FEATURES FOR A SMARTER RENTAL FLEET</a:t>
            </a:r>
            <a:endParaRPr lang="en-US" sz="1900" dirty="0"/>
          </a:p>
        </p:txBody>
      </p:sp>
      <p:sp>
        <p:nvSpPr>
          <p:cNvPr id="5" name="Shape 3"/>
          <p:cNvSpPr/>
          <p:nvPr/>
        </p:nvSpPr>
        <p:spPr>
          <a:xfrm>
            <a:off x="507987" y="2087662"/>
            <a:ext cx="2235144" cy="863600"/>
          </a:xfrm>
          <a:prstGeom prst="rect">
            <a:avLst/>
          </a:prstGeom>
          <a:solidFill>
            <a:srgbClr val="B8DFDC"/>
          </a:solidFill>
          <a:ln/>
        </p:spPr>
      </p:sp>
      <p:sp>
        <p:nvSpPr>
          <p:cNvPr id="6" name="Shape 4"/>
          <p:cNvSpPr/>
          <p:nvPr/>
        </p:nvSpPr>
        <p:spPr>
          <a:xfrm>
            <a:off x="507987" y="2087662"/>
            <a:ext cx="2235144" cy="863600"/>
          </a:xfrm>
          <a:prstGeom prst="rect">
            <a:avLst/>
          </a:prstGeom>
          <a:solidFill>
            <a:srgbClr val="D2F9F6"/>
          </a:solidFill>
          <a:ln/>
        </p:spPr>
      </p:sp>
      <p:sp>
        <p:nvSpPr>
          <p:cNvPr id="7" name="Text 5"/>
          <p:cNvSpPr/>
          <p:nvPr/>
        </p:nvSpPr>
        <p:spPr>
          <a:xfrm>
            <a:off x="1528327" y="2357537"/>
            <a:ext cx="803949" cy="323850"/>
          </a:xfrm>
          <a:prstGeom prst="rect">
            <a:avLst/>
          </a:prstGeom>
          <a:noFill/>
          <a:ln/>
        </p:spPr>
        <p:txBody>
          <a:bodyPr wrap="none" lIns="0" tIns="0" rIns="0" bIns="0" rtlCol="0" anchor="t"/>
          <a:lstStyle/>
          <a:p>
            <a:pPr algn="l" indent="0" marL="0">
              <a:lnSpc>
                <a:spcPct val="83000"/>
              </a:lnSpc>
              <a:buNone/>
            </a:pPr>
            <a:r>
              <a:rPr lang="en-US" sz="2550" dirty="0">
                <a:solidFill>
                  <a:srgbClr val="0B2A33"/>
                </a:solidFill>
                <a:latin typeface="Radio Canada SemiBold" pitchFamily="34" charset="0"/>
                <a:ea typeface="Radio Canada SemiBold" pitchFamily="34" charset="-122"/>
                <a:cs typeface="Radio Canada SemiBold" pitchFamily="34" charset="-120"/>
              </a:rPr>
              <a:t>1</a:t>
            </a:r>
            <a:endParaRPr lang="en-US" sz="2550" dirty="0"/>
          </a:p>
        </p:txBody>
      </p:sp>
      <p:sp>
        <p:nvSpPr>
          <p:cNvPr id="8" name="Text 6"/>
          <p:cNvSpPr/>
          <p:nvPr/>
        </p:nvSpPr>
        <p:spPr>
          <a:xfrm>
            <a:off x="723882" y="3038602"/>
            <a:ext cx="2019249" cy="213320"/>
          </a:xfrm>
          <a:prstGeom prst="rect">
            <a:avLst/>
          </a:prstGeom>
          <a:noFill/>
          <a:ln/>
        </p:spPr>
        <p:txBody>
          <a:bodyPr wrap="none" lIns="0" tIns="0" rIns="0" bIns="0" rtlCol="0" anchor="t"/>
          <a:lstStyle/>
          <a:p>
            <a:pPr algn="l" indent="0" marL="0">
              <a:lnSpc>
                <a:spcPct val="100000"/>
              </a:lnSpc>
              <a:buNone/>
            </a:pPr>
            <a:r>
              <a:rPr lang="en-US" sz="1400" spc="14" kern="100" dirty="0">
                <a:solidFill>
                  <a:srgbClr val="0F766E"/>
                </a:solidFill>
                <a:latin typeface="Radio Canada SemiBold" pitchFamily="34" charset="0"/>
                <a:ea typeface="Radio Canada SemiBold" pitchFamily="34" charset="-122"/>
                <a:cs typeface="Radio Canada SemiBold" pitchFamily="34" charset="-120"/>
              </a:rPr>
              <a:t>JAVA FEATURE</a:t>
            </a:r>
            <a:endParaRPr lang="en-US" sz="1400" dirty="0"/>
          </a:p>
        </p:txBody>
      </p:sp>
      <p:sp>
        <p:nvSpPr>
          <p:cNvPr id="9" name="Shape 7"/>
          <p:cNvSpPr/>
          <p:nvPr/>
        </p:nvSpPr>
        <p:spPr>
          <a:xfrm>
            <a:off x="723882" y="3377307"/>
            <a:ext cx="1803355" cy="543917"/>
          </a:xfrm>
          <a:prstGeom prst="roundRect">
            <a:avLst>
              <a:gd name="adj" fmla="val 28579"/>
            </a:avLst>
          </a:prstGeom>
          <a:solidFill>
            <a:srgbClr val="D2F9F6"/>
          </a:solidFill>
          <a:ln/>
        </p:spPr>
      </p:sp>
      <p:sp>
        <p:nvSpPr>
          <p:cNvPr id="10" name="Text 8"/>
          <p:cNvSpPr/>
          <p:nvPr/>
        </p:nvSpPr>
        <p:spPr>
          <a:xfrm>
            <a:off x="853359" y="3447332"/>
            <a:ext cx="1544400" cy="414536"/>
          </a:xfrm>
          <a:prstGeom prst="rect">
            <a:avLst/>
          </a:prstGeom>
          <a:noFill/>
          <a:ln/>
        </p:spPr>
        <p:txBody>
          <a:bodyPr wrap="square" lIns="0" tIns="0" rIns="0" bIns="0" rtlCol="0" anchor="t">
            <a:normAutofit/>
          </a:bodyPr>
          <a:lstStyle/>
          <a:p>
            <a:pPr algn="l" indent="0" marL="0">
              <a:lnSpc>
                <a:spcPct val="100000"/>
              </a:lnSpc>
              <a:buNone/>
            </a:pPr>
            <a:r>
              <a:rPr lang="en-US" sz="1350" spc="14" kern="100" dirty="0">
                <a:solidFill>
                  <a:srgbClr val="0B2A33"/>
                </a:solidFill>
                <a:latin typeface="Radio Canada SemiBold" pitchFamily="34" charset="0"/>
                <a:ea typeface="Radio Canada SemiBold" pitchFamily="34" charset="-122"/>
                <a:cs typeface="Radio Canada SemiBold" pitchFamily="34" charset="-120"/>
              </a:rPr>
              <a:t>ONLINE RESERVATIONS</a:t>
            </a:r>
            <a:endParaRPr lang="en-US" sz="1350" dirty="0"/>
          </a:p>
        </p:txBody>
      </p:sp>
      <p:sp>
        <p:nvSpPr>
          <p:cNvPr id="11" name="Shape 9"/>
          <p:cNvSpPr/>
          <p:nvPr/>
        </p:nvSpPr>
        <p:spPr>
          <a:xfrm>
            <a:off x="2743131" y="2087662"/>
            <a:ext cx="2235144" cy="863600"/>
          </a:xfrm>
          <a:prstGeom prst="rect">
            <a:avLst/>
          </a:prstGeom>
          <a:solidFill>
            <a:srgbClr val="B8DFDC"/>
          </a:solidFill>
          <a:ln/>
        </p:spPr>
      </p:sp>
      <p:sp>
        <p:nvSpPr>
          <p:cNvPr id="12" name="Shape 10"/>
          <p:cNvSpPr/>
          <p:nvPr/>
        </p:nvSpPr>
        <p:spPr>
          <a:xfrm>
            <a:off x="2743131" y="2087662"/>
            <a:ext cx="2235144" cy="863600"/>
          </a:xfrm>
          <a:prstGeom prst="rect">
            <a:avLst/>
          </a:prstGeom>
          <a:solidFill>
            <a:srgbClr val="D2F9F6"/>
          </a:solidFill>
          <a:ln/>
        </p:spPr>
      </p:sp>
      <p:sp>
        <p:nvSpPr>
          <p:cNvPr id="13" name="Text 11"/>
          <p:cNvSpPr/>
          <p:nvPr/>
        </p:nvSpPr>
        <p:spPr>
          <a:xfrm>
            <a:off x="3763471" y="2357537"/>
            <a:ext cx="803949" cy="323850"/>
          </a:xfrm>
          <a:prstGeom prst="rect">
            <a:avLst/>
          </a:prstGeom>
          <a:noFill/>
          <a:ln/>
        </p:spPr>
        <p:txBody>
          <a:bodyPr wrap="none" lIns="0" tIns="0" rIns="0" bIns="0" rtlCol="0" anchor="t"/>
          <a:lstStyle/>
          <a:p>
            <a:pPr algn="l" indent="0" marL="0">
              <a:lnSpc>
                <a:spcPct val="83000"/>
              </a:lnSpc>
              <a:buNone/>
            </a:pPr>
            <a:r>
              <a:rPr lang="en-US" sz="2550" dirty="0">
                <a:solidFill>
                  <a:srgbClr val="0B2A33"/>
                </a:solidFill>
                <a:latin typeface="Radio Canada SemiBold" pitchFamily="34" charset="0"/>
                <a:ea typeface="Radio Canada SemiBold" pitchFamily="34" charset="-122"/>
                <a:cs typeface="Radio Canada SemiBold" pitchFamily="34" charset="-120"/>
              </a:rPr>
              <a:t>2</a:t>
            </a:r>
            <a:endParaRPr lang="en-US" sz="2550" dirty="0"/>
          </a:p>
        </p:txBody>
      </p:sp>
      <p:sp>
        <p:nvSpPr>
          <p:cNvPr id="14" name="Text 12"/>
          <p:cNvSpPr/>
          <p:nvPr/>
        </p:nvSpPr>
        <p:spPr>
          <a:xfrm>
            <a:off x="2959026" y="3038602"/>
            <a:ext cx="2019249" cy="213320"/>
          </a:xfrm>
          <a:prstGeom prst="rect">
            <a:avLst/>
          </a:prstGeom>
          <a:noFill/>
          <a:ln/>
        </p:spPr>
        <p:txBody>
          <a:bodyPr wrap="none" lIns="0" tIns="0" rIns="0" bIns="0" rtlCol="0" anchor="t"/>
          <a:lstStyle/>
          <a:p>
            <a:pPr algn="l" indent="0" marL="0">
              <a:lnSpc>
                <a:spcPct val="100000"/>
              </a:lnSpc>
              <a:buNone/>
            </a:pPr>
            <a:r>
              <a:rPr lang="en-US" sz="1400" spc="14" kern="100" dirty="0">
                <a:solidFill>
                  <a:srgbClr val="0F766E"/>
                </a:solidFill>
                <a:latin typeface="Radio Canada SemiBold" pitchFamily="34" charset="0"/>
                <a:ea typeface="Radio Canada SemiBold" pitchFamily="34" charset="-122"/>
                <a:cs typeface="Radio Canada SemiBold" pitchFamily="34" charset="-120"/>
              </a:rPr>
              <a:t>JAVA FEATURE</a:t>
            </a:r>
            <a:endParaRPr lang="en-US" sz="1400" dirty="0"/>
          </a:p>
        </p:txBody>
      </p:sp>
      <p:sp>
        <p:nvSpPr>
          <p:cNvPr id="15" name="Shape 13"/>
          <p:cNvSpPr/>
          <p:nvPr/>
        </p:nvSpPr>
        <p:spPr>
          <a:xfrm>
            <a:off x="2959026" y="3377307"/>
            <a:ext cx="1803355" cy="543917"/>
          </a:xfrm>
          <a:prstGeom prst="roundRect">
            <a:avLst>
              <a:gd name="adj" fmla="val 28579"/>
            </a:avLst>
          </a:prstGeom>
          <a:solidFill>
            <a:srgbClr val="D2F9F6"/>
          </a:solidFill>
          <a:ln/>
        </p:spPr>
      </p:sp>
      <p:sp>
        <p:nvSpPr>
          <p:cNvPr id="16" name="Text 14"/>
          <p:cNvSpPr/>
          <p:nvPr/>
        </p:nvSpPr>
        <p:spPr>
          <a:xfrm>
            <a:off x="3088503" y="3447332"/>
            <a:ext cx="1544400" cy="414536"/>
          </a:xfrm>
          <a:prstGeom prst="rect">
            <a:avLst/>
          </a:prstGeom>
          <a:noFill/>
          <a:ln/>
        </p:spPr>
        <p:txBody>
          <a:bodyPr wrap="square" lIns="0" tIns="0" rIns="0" bIns="0" rtlCol="0" anchor="t">
            <a:normAutofit/>
          </a:bodyPr>
          <a:lstStyle/>
          <a:p>
            <a:pPr algn="l" indent="0" marL="0">
              <a:lnSpc>
                <a:spcPct val="100000"/>
              </a:lnSpc>
              <a:buNone/>
            </a:pPr>
            <a:r>
              <a:rPr lang="en-US" sz="1350" spc="14" kern="100" dirty="0">
                <a:solidFill>
                  <a:srgbClr val="0B2A33"/>
                </a:solidFill>
                <a:latin typeface="Radio Canada SemiBold" pitchFamily="34" charset="0"/>
                <a:ea typeface="Radio Canada SemiBold" pitchFamily="34" charset="-122"/>
                <a:cs typeface="Radio Canada SemiBold" pitchFamily="34" charset="-120"/>
              </a:rPr>
              <a:t>CHECK-IN &amp; CHECK-OUT</a:t>
            </a:r>
            <a:endParaRPr lang="en-US" sz="1350" dirty="0"/>
          </a:p>
        </p:txBody>
      </p:sp>
      <p:sp>
        <p:nvSpPr>
          <p:cNvPr id="17" name="Shape 15"/>
          <p:cNvSpPr/>
          <p:nvPr/>
        </p:nvSpPr>
        <p:spPr>
          <a:xfrm>
            <a:off x="4978275" y="2087662"/>
            <a:ext cx="2235144" cy="863600"/>
          </a:xfrm>
          <a:prstGeom prst="rect">
            <a:avLst/>
          </a:prstGeom>
          <a:solidFill>
            <a:srgbClr val="B8DFDC"/>
          </a:solidFill>
          <a:ln/>
        </p:spPr>
      </p:sp>
      <p:sp>
        <p:nvSpPr>
          <p:cNvPr id="18" name="Shape 16"/>
          <p:cNvSpPr/>
          <p:nvPr/>
        </p:nvSpPr>
        <p:spPr>
          <a:xfrm>
            <a:off x="4978275" y="2087662"/>
            <a:ext cx="2235144" cy="863600"/>
          </a:xfrm>
          <a:prstGeom prst="rect">
            <a:avLst/>
          </a:prstGeom>
          <a:solidFill>
            <a:srgbClr val="D2F9F6"/>
          </a:solidFill>
          <a:ln/>
        </p:spPr>
      </p:sp>
      <p:sp>
        <p:nvSpPr>
          <p:cNvPr id="19" name="Text 17"/>
          <p:cNvSpPr/>
          <p:nvPr/>
        </p:nvSpPr>
        <p:spPr>
          <a:xfrm>
            <a:off x="5998616" y="2357537"/>
            <a:ext cx="803949" cy="323850"/>
          </a:xfrm>
          <a:prstGeom prst="rect">
            <a:avLst/>
          </a:prstGeom>
          <a:noFill/>
          <a:ln/>
        </p:spPr>
        <p:txBody>
          <a:bodyPr wrap="none" lIns="0" tIns="0" rIns="0" bIns="0" rtlCol="0" anchor="t"/>
          <a:lstStyle/>
          <a:p>
            <a:pPr algn="l" indent="0" marL="0">
              <a:lnSpc>
                <a:spcPct val="83000"/>
              </a:lnSpc>
              <a:buNone/>
            </a:pPr>
            <a:r>
              <a:rPr lang="en-US" sz="2550" dirty="0">
                <a:solidFill>
                  <a:srgbClr val="0B2A33"/>
                </a:solidFill>
                <a:latin typeface="Radio Canada SemiBold" pitchFamily="34" charset="0"/>
                <a:ea typeface="Radio Canada SemiBold" pitchFamily="34" charset="-122"/>
                <a:cs typeface="Radio Canada SemiBold" pitchFamily="34" charset="-120"/>
              </a:rPr>
              <a:t>3</a:t>
            </a:r>
            <a:endParaRPr lang="en-US" sz="2550" dirty="0"/>
          </a:p>
        </p:txBody>
      </p:sp>
      <p:sp>
        <p:nvSpPr>
          <p:cNvPr id="20" name="Text 18"/>
          <p:cNvSpPr/>
          <p:nvPr/>
        </p:nvSpPr>
        <p:spPr>
          <a:xfrm>
            <a:off x="5194170" y="3038602"/>
            <a:ext cx="2019249" cy="213320"/>
          </a:xfrm>
          <a:prstGeom prst="rect">
            <a:avLst/>
          </a:prstGeom>
          <a:noFill/>
          <a:ln/>
        </p:spPr>
        <p:txBody>
          <a:bodyPr wrap="none" lIns="0" tIns="0" rIns="0" bIns="0" rtlCol="0" anchor="t"/>
          <a:lstStyle/>
          <a:p>
            <a:pPr algn="l" indent="0" marL="0">
              <a:lnSpc>
                <a:spcPct val="100000"/>
              </a:lnSpc>
              <a:buNone/>
            </a:pPr>
            <a:r>
              <a:rPr lang="en-US" sz="1400" spc="14" kern="100" dirty="0">
                <a:solidFill>
                  <a:srgbClr val="0F766E"/>
                </a:solidFill>
                <a:latin typeface="Radio Canada SemiBold" pitchFamily="34" charset="0"/>
                <a:ea typeface="Radio Canada SemiBold" pitchFamily="34" charset="-122"/>
                <a:cs typeface="Radio Canada SemiBold" pitchFamily="34" charset="-120"/>
              </a:rPr>
              <a:t>JAVA FEATURE</a:t>
            </a:r>
            <a:endParaRPr lang="en-US" sz="1400" dirty="0"/>
          </a:p>
        </p:txBody>
      </p:sp>
      <p:sp>
        <p:nvSpPr>
          <p:cNvPr id="21" name="Shape 19"/>
          <p:cNvSpPr/>
          <p:nvPr/>
        </p:nvSpPr>
        <p:spPr>
          <a:xfrm>
            <a:off x="5194170" y="3377307"/>
            <a:ext cx="1803355" cy="543917"/>
          </a:xfrm>
          <a:prstGeom prst="roundRect">
            <a:avLst>
              <a:gd name="adj" fmla="val 28579"/>
            </a:avLst>
          </a:prstGeom>
          <a:solidFill>
            <a:srgbClr val="D2F9F6"/>
          </a:solidFill>
          <a:ln/>
        </p:spPr>
      </p:sp>
      <p:sp>
        <p:nvSpPr>
          <p:cNvPr id="22" name="Text 20"/>
          <p:cNvSpPr/>
          <p:nvPr/>
        </p:nvSpPr>
        <p:spPr>
          <a:xfrm>
            <a:off x="5323647" y="3447332"/>
            <a:ext cx="1544400" cy="414536"/>
          </a:xfrm>
          <a:prstGeom prst="rect">
            <a:avLst/>
          </a:prstGeom>
          <a:noFill/>
          <a:ln/>
        </p:spPr>
        <p:txBody>
          <a:bodyPr wrap="square" lIns="0" tIns="0" rIns="0" bIns="0" rtlCol="0" anchor="t">
            <a:normAutofit/>
          </a:bodyPr>
          <a:lstStyle/>
          <a:p>
            <a:pPr algn="l" indent="0" marL="0">
              <a:lnSpc>
                <a:spcPct val="100000"/>
              </a:lnSpc>
              <a:buNone/>
            </a:pPr>
            <a:r>
              <a:rPr lang="en-US" sz="1350" spc="14" kern="100" dirty="0">
                <a:solidFill>
                  <a:srgbClr val="0B2A33"/>
                </a:solidFill>
                <a:latin typeface="Radio Canada SemiBold" pitchFamily="34" charset="0"/>
                <a:ea typeface="Radio Canada SemiBold" pitchFamily="34" charset="-122"/>
                <a:cs typeface="Radio Canada SemiBold" pitchFamily="34" charset="-120"/>
              </a:rPr>
              <a:t>REAL-TIME GPS TRACKING</a:t>
            </a:r>
            <a:endParaRPr lang="en-US" sz="1350" dirty="0"/>
          </a:p>
        </p:txBody>
      </p:sp>
      <p:sp>
        <p:nvSpPr>
          <p:cNvPr id="23" name="Shape 21"/>
          <p:cNvSpPr/>
          <p:nvPr/>
        </p:nvSpPr>
        <p:spPr>
          <a:xfrm>
            <a:off x="7213420" y="2087662"/>
            <a:ext cx="2235144" cy="863600"/>
          </a:xfrm>
          <a:prstGeom prst="rect">
            <a:avLst/>
          </a:prstGeom>
          <a:solidFill>
            <a:srgbClr val="B8DFDC"/>
          </a:solidFill>
          <a:ln/>
        </p:spPr>
      </p:sp>
      <p:sp>
        <p:nvSpPr>
          <p:cNvPr id="24" name="Shape 22"/>
          <p:cNvSpPr/>
          <p:nvPr/>
        </p:nvSpPr>
        <p:spPr>
          <a:xfrm>
            <a:off x="7213420" y="2087662"/>
            <a:ext cx="2235144" cy="863600"/>
          </a:xfrm>
          <a:prstGeom prst="rect">
            <a:avLst/>
          </a:prstGeom>
          <a:solidFill>
            <a:srgbClr val="D2F9F6"/>
          </a:solidFill>
          <a:ln/>
        </p:spPr>
      </p:sp>
      <p:sp>
        <p:nvSpPr>
          <p:cNvPr id="25" name="Text 23"/>
          <p:cNvSpPr/>
          <p:nvPr/>
        </p:nvSpPr>
        <p:spPr>
          <a:xfrm>
            <a:off x="8233760" y="2357537"/>
            <a:ext cx="803949" cy="323850"/>
          </a:xfrm>
          <a:prstGeom prst="rect">
            <a:avLst/>
          </a:prstGeom>
          <a:noFill/>
          <a:ln/>
        </p:spPr>
        <p:txBody>
          <a:bodyPr wrap="none" lIns="0" tIns="0" rIns="0" bIns="0" rtlCol="0" anchor="t"/>
          <a:lstStyle/>
          <a:p>
            <a:pPr algn="l" indent="0" marL="0">
              <a:lnSpc>
                <a:spcPct val="83000"/>
              </a:lnSpc>
              <a:buNone/>
            </a:pPr>
            <a:r>
              <a:rPr lang="en-US" sz="2550" dirty="0">
                <a:solidFill>
                  <a:srgbClr val="0B2A33"/>
                </a:solidFill>
                <a:latin typeface="Radio Canada SemiBold" pitchFamily="34" charset="0"/>
                <a:ea typeface="Radio Canada SemiBold" pitchFamily="34" charset="-122"/>
                <a:cs typeface="Radio Canada SemiBold" pitchFamily="34" charset="-120"/>
              </a:rPr>
              <a:t>4</a:t>
            </a:r>
            <a:endParaRPr lang="en-US" sz="2550" dirty="0"/>
          </a:p>
        </p:txBody>
      </p:sp>
      <p:sp>
        <p:nvSpPr>
          <p:cNvPr id="26" name="Text 24"/>
          <p:cNvSpPr/>
          <p:nvPr/>
        </p:nvSpPr>
        <p:spPr>
          <a:xfrm>
            <a:off x="7429314" y="3038602"/>
            <a:ext cx="2019249" cy="213320"/>
          </a:xfrm>
          <a:prstGeom prst="rect">
            <a:avLst/>
          </a:prstGeom>
          <a:noFill/>
          <a:ln/>
        </p:spPr>
        <p:txBody>
          <a:bodyPr wrap="none" lIns="0" tIns="0" rIns="0" bIns="0" rtlCol="0" anchor="t"/>
          <a:lstStyle/>
          <a:p>
            <a:pPr algn="l" indent="0" marL="0">
              <a:lnSpc>
                <a:spcPct val="100000"/>
              </a:lnSpc>
              <a:buNone/>
            </a:pPr>
            <a:r>
              <a:rPr lang="en-US" sz="1400" spc="14" kern="100" dirty="0">
                <a:solidFill>
                  <a:srgbClr val="0F766E"/>
                </a:solidFill>
                <a:latin typeface="Radio Canada SemiBold" pitchFamily="34" charset="0"/>
                <a:ea typeface="Radio Canada SemiBold" pitchFamily="34" charset="-122"/>
                <a:cs typeface="Radio Canada SemiBold" pitchFamily="34" charset="-120"/>
              </a:rPr>
              <a:t>JAVA FEATURE</a:t>
            </a:r>
            <a:endParaRPr lang="en-US" sz="1400" dirty="0"/>
          </a:p>
        </p:txBody>
      </p:sp>
      <p:sp>
        <p:nvSpPr>
          <p:cNvPr id="27" name="Shape 25"/>
          <p:cNvSpPr/>
          <p:nvPr/>
        </p:nvSpPr>
        <p:spPr>
          <a:xfrm>
            <a:off x="7429314" y="3377307"/>
            <a:ext cx="1803355" cy="751185"/>
          </a:xfrm>
          <a:prstGeom prst="roundRect">
            <a:avLst>
              <a:gd name="adj" fmla="val 20693"/>
            </a:avLst>
          </a:prstGeom>
          <a:solidFill>
            <a:srgbClr val="D2F9F6"/>
          </a:solidFill>
          <a:ln/>
        </p:spPr>
      </p:sp>
      <p:sp>
        <p:nvSpPr>
          <p:cNvPr id="28" name="Text 26"/>
          <p:cNvSpPr/>
          <p:nvPr/>
        </p:nvSpPr>
        <p:spPr>
          <a:xfrm>
            <a:off x="7558791" y="3447332"/>
            <a:ext cx="1544400" cy="621804"/>
          </a:xfrm>
          <a:prstGeom prst="rect">
            <a:avLst/>
          </a:prstGeom>
          <a:noFill/>
          <a:ln/>
        </p:spPr>
        <p:txBody>
          <a:bodyPr wrap="square" lIns="0" tIns="0" rIns="0" bIns="0" rtlCol="0" anchor="t">
            <a:normAutofit/>
          </a:bodyPr>
          <a:lstStyle/>
          <a:p>
            <a:pPr algn="l" indent="0" marL="0">
              <a:lnSpc>
                <a:spcPct val="100000"/>
              </a:lnSpc>
              <a:buNone/>
            </a:pPr>
            <a:r>
              <a:rPr lang="en-US" sz="1350" spc="14" kern="100" dirty="0">
                <a:solidFill>
                  <a:srgbClr val="0B2A33"/>
                </a:solidFill>
                <a:latin typeface="Radio Canada SemiBold" pitchFamily="34" charset="0"/>
                <a:ea typeface="Radio Canada SemiBold" pitchFamily="34" charset="-122"/>
                <a:cs typeface="Radio Canada SemiBold" pitchFamily="34" charset="-120"/>
              </a:rPr>
              <a:t>BILLING &amp; REPORTING DASHBOARD</a:t>
            </a:r>
            <a:endParaRPr lang="en-US" sz="1350" dirty="0"/>
          </a:p>
        </p:txBody>
      </p:sp>
      <p:sp>
        <p:nvSpPr>
          <p:cNvPr id="29" name="Shape 27"/>
          <p:cNvSpPr/>
          <p:nvPr/>
        </p:nvSpPr>
        <p:spPr>
          <a:xfrm>
            <a:off x="9448564" y="2087662"/>
            <a:ext cx="2235144" cy="863600"/>
          </a:xfrm>
          <a:prstGeom prst="rect">
            <a:avLst/>
          </a:prstGeom>
          <a:solidFill>
            <a:srgbClr val="B8DFDC"/>
          </a:solidFill>
          <a:ln/>
        </p:spPr>
      </p:sp>
      <p:sp>
        <p:nvSpPr>
          <p:cNvPr id="30" name="Shape 28"/>
          <p:cNvSpPr/>
          <p:nvPr/>
        </p:nvSpPr>
        <p:spPr>
          <a:xfrm>
            <a:off x="9448564" y="2087662"/>
            <a:ext cx="2235144" cy="863600"/>
          </a:xfrm>
          <a:prstGeom prst="rect">
            <a:avLst/>
          </a:prstGeom>
          <a:solidFill>
            <a:srgbClr val="D2F9F6"/>
          </a:solidFill>
          <a:ln/>
        </p:spPr>
      </p:sp>
      <p:sp>
        <p:nvSpPr>
          <p:cNvPr id="31" name="Text 29"/>
          <p:cNvSpPr/>
          <p:nvPr/>
        </p:nvSpPr>
        <p:spPr>
          <a:xfrm>
            <a:off x="10468904" y="2357537"/>
            <a:ext cx="803949" cy="323850"/>
          </a:xfrm>
          <a:prstGeom prst="rect">
            <a:avLst/>
          </a:prstGeom>
          <a:noFill/>
          <a:ln/>
        </p:spPr>
        <p:txBody>
          <a:bodyPr wrap="none" lIns="0" tIns="0" rIns="0" bIns="0" rtlCol="0" anchor="t"/>
          <a:lstStyle/>
          <a:p>
            <a:pPr algn="l" indent="0" marL="0">
              <a:lnSpc>
                <a:spcPct val="83000"/>
              </a:lnSpc>
              <a:buNone/>
            </a:pPr>
            <a:r>
              <a:rPr lang="en-US" sz="2550" dirty="0">
                <a:solidFill>
                  <a:srgbClr val="0B2A33"/>
                </a:solidFill>
                <a:latin typeface="Radio Canada SemiBold" pitchFamily="34" charset="0"/>
                <a:ea typeface="Radio Canada SemiBold" pitchFamily="34" charset="-122"/>
                <a:cs typeface="Radio Canada SemiBold" pitchFamily="34" charset="-120"/>
              </a:rPr>
              <a:t>5</a:t>
            </a:r>
            <a:endParaRPr lang="en-US" sz="2550" dirty="0"/>
          </a:p>
        </p:txBody>
      </p:sp>
      <p:sp>
        <p:nvSpPr>
          <p:cNvPr id="32" name="Text 30"/>
          <p:cNvSpPr/>
          <p:nvPr/>
        </p:nvSpPr>
        <p:spPr>
          <a:xfrm>
            <a:off x="9664458" y="3038602"/>
            <a:ext cx="2019249" cy="213320"/>
          </a:xfrm>
          <a:prstGeom prst="rect">
            <a:avLst/>
          </a:prstGeom>
          <a:noFill/>
          <a:ln/>
        </p:spPr>
        <p:txBody>
          <a:bodyPr wrap="none" lIns="0" tIns="0" rIns="0" bIns="0" rtlCol="0" anchor="t"/>
          <a:lstStyle/>
          <a:p>
            <a:pPr algn="l" indent="0" marL="0">
              <a:lnSpc>
                <a:spcPct val="100000"/>
              </a:lnSpc>
              <a:buNone/>
            </a:pPr>
            <a:r>
              <a:rPr lang="en-US" sz="1400" spc="14" kern="100" dirty="0">
                <a:solidFill>
                  <a:srgbClr val="0F766E"/>
                </a:solidFill>
                <a:latin typeface="Radio Canada SemiBold" pitchFamily="34" charset="0"/>
                <a:ea typeface="Radio Canada SemiBold" pitchFamily="34" charset="-122"/>
                <a:cs typeface="Radio Canada SemiBold" pitchFamily="34" charset="-120"/>
              </a:rPr>
              <a:t>JAVA FEATURE</a:t>
            </a:r>
            <a:endParaRPr lang="en-US" sz="1400" dirty="0"/>
          </a:p>
        </p:txBody>
      </p:sp>
      <p:sp>
        <p:nvSpPr>
          <p:cNvPr id="33" name="Shape 31"/>
          <p:cNvSpPr/>
          <p:nvPr/>
        </p:nvSpPr>
        <p:spPr>
          <a:xfrm>
            <a:off x="9664458" y="3377307"/>
            <a:ext cx="1803355" cy="751185"/>
          </a:xfrm>
          <a:prstGeom prst="roundRect">
            <a:avLst>
              <a:gd name="adj" fmla="val 20693"/>
            </a:avLst>
          </a:prstGeom>
          <a:solidFill>
            <a:srgbClr val="D2F9F6"/>
          </a:solidFill>
          <a:ln/>
        </p:spPr>
      </p:sp>
      <p:sp>
        <p:nvSpPr>
          <p:cNvPr id="34" name="Text 32"/>
          <p:cNvSpPr/>
          <p:nvPr/>
        </p:nvSpPr>
        <p:spPr>
          <a:xfrm>
            <a:off x="9793935" y="3447332"/>
            <a:ext cx="1544400" cy="621804"/>
          </a:xfrm>
          <a:prstGeom prst="rect">
            <a:avLst/>
          </a:prstGeom>
          <a:noFill/>
          <a:ln/>
        </p:spPr>
        <p:txBody>
          <a:bodyPr wrap="square" lIns="0" tIns="0" rIns="0" bIns="0" rtlCol="0" anchor="t">
            <a:normAutofit/>
          </a:bodyPr>
          <a:lstStyle/>
          <a:p>
            <a:pPr algn="l" indent="0" marL="0">
              <a:lnSpc>
                <a:spcPct val="100000"/>
              </a:lnSpc>
              <a:buNone/>
            </a:pPr>
            <a:r>
              <a:rPr lang="en-US" sz="1350" spc="14" kern="100" dirty="0">
                <a:solidFill>
                  <a:srgbClr val="0B2A33"/>
                </a:solidFill>
                <a:latin typeface="Radio Canada SemiBold" pitchFamily="34" charset="0"/>
                <a:ea typeface="Radio Canada SemiBold" pitchFamily="34" charset="-122"/>
                <a:cs typeface="Radio Canada SemiBold" pitchFamily="34" charset="-120"/>
              </a:rPr>
              <a:t>AUTOMATED MAINTENANCE ALERTS</a:t>
            </a:r>
            <a:endParaRPr lang="en-US" sz="1350" dirty="0"/>
          </a:p>
        </p:txBody>
      </p:sp>
      <p:pic>
        <p:nvPicPr>
          <p:cNvPr id="35" name="Image 0" descr="preencoded.png">    </p:cNvPr>
          <p:cNvPicPr>
            <a:picLocks noChangeAspect="1"/>
          </p:cNvPicPr>
          <p:nvPr/>
        </p:nvPicPr>
        <p:blipFill>
          <a:blip r:embed="rId1"/>
          <a:stretch>
            <a:fillRect/>
          </a:stretch>
        </p:blipFill>
        <p:spPr>
          <a:xfrm>
            <a:off x="11124922" y="228600"/>
            <a:ext cx="761981" cy="762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4754840" cy="6858000"/>
          </a:xfrm>
          <a:prstGeom prst="rect">
            <a:avLst/>
          </a:prstGeom>
          <a:solidFill>
            <a:srgbClr val="E3F4F1"/>
          </a:solidFill>
          <a:ln/>
        </p:spPr>
      </p:sp>
      <p:sp>
        <p:nvSpPr>
          <p:cNvPr id="3" name="Text 1"/>
          <p:cNvSpPr/>
          <p:nvPr/>
        </p:nvSpPr>
        <p:spPr>
          <a:xfrm>
            <a:off x="507987" y="509615"/>
            <a:ext cx="4246853" cy="213320"/>
          </a:xfrm>
          <a:prstGeom prst="rect">
            <a:avLst/>
          </a:prstGeom>
          <a:noFill/>
          <a:ln/>
        </p:spPr>
        <p:txBody>
          <a:bodyPr wrap="none" lIns="0" tIns="0" rIns="0" bIns="0" rtlCol="0" anchor="t"/>
          <a:lstStyle/>
          <a:p>
            <a:pPr algn="l" indent="0" marL="0">
              <a:lnSpc>
                <a:spcPct val="100000"/>
              </a:lnSpc>
              <a:buNone/>
            </a:pPr>
            <a:r>
              <a:rPr lang="en-US" sz="1400" spc="14" kern="100" dirty="0">
                <a:solidFill>
                  <a:srgbClr val="000000"/>
                </a:solidFill>
                <a:latin typeface="Radio Canada SemiBold" pitchFamily="34" charset="0"/>
                <a:ea typeface="Radio Canada SemiBold" pitchFamily="34" charset="-122"/>
                <a:cs typeface="Radio Canada SemiBold" pitchFamily="34" charset="-120"/>
              </a:rPr>
              <a:t>JAVA FEATURE MAPPING</a:t>
            </a:r>
            <a:endParaRPr lang="en-US" sz="1400" dirty="0"/>
          </a:p>
        </p:txBody>
      </p:sp>
      <p:sp>
        <p:nvSpPr>
          <p:cNvPr id="4" name="Text 2"/>
          <p:cNvSpPr/>
          <p:nvPr/>
        </p:nvSpPr>
        <p:spPr>
          <a:xfrm>
            <a:off x="507987" y="843431"/>
            <a:ext cx="3738866" cy="1042392"/>
          </a:xfrm>
          <a:prstGeom prst="rect">
            <a:avLst/>
          </a:prstGeom>
          <a:noFill/>
          <a:ln/>
        </p:spPr>
        <p:txBody>
          <a:bodyPr wrap="square" lIns="0" tIns="0" rIns="0" bIns="0" rtlCol="0" anchor="t">
            <a:normAutofit/>
          </a:bodyPr>
          <a:lstStyle/>
          <a:p>
            <a:pPr algn="l" indent="0" marL="0">
              <a:lnSpc>
                <a:spcPct val="90000"/>
              </a:lnSpc>
              <a:buNone/>
            </a:pPr>
            <a:r>
              <a:rPr lang="en-US" sz="3800" b="1" spc="-38" kern="100" dirty="0">
                <a:solidFill>
                  <a:srgbClr val="000000"/>
                </a:solidFill>
                <a:latin typeface="Radio Canada Big Bold" pitchFamily="34" charset="0"/>
                <a:ea typeface="Radio Canada Big Bold" pitchFamily="34" charset="-122"/>
                <a:cs typeface="Radio Canada Big Bold" pitchFamily="34" charset="-120"/>
              </a:rPr>
              <a:t>ONLINE RESERVATIONS</a:t>
            </a:r>
            <a:endParaRPr lang="en-US" sz="3800" dirty="0"/>
          </a:p>
        </p:txBody>
      </p:sp>
      <p:sp>
        <p:nvSpPr>
          <p:cNvPr id="5" name="Text 3"/>
          <p:cNvSpPr/>
          <p:nvPr/>
        </p:nvSpPr>
        <p:spPr>
          <a:xfrm>
            <a:off x="507987" y="2065338"/>
            <a:ext cx="3738866" cy="939105"/>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000000"/>
                </a:solidFill>
                <a:latin typeface="Radio Canada" pitchFamily="34" charset="0"/>
                <a:ea typeface="Radio Canada" pitchFamily="34" charset="-122"/>
                <a:cs typeface="Radio Canada" pitchFamily="34" charset="-120"/>
              </a:rPr>
              <a:t>Enable customers to search, select, and book vehicles with real-time availability.</a:t>
            </a:r>
            <a:endParaRPr lang="en-US" sz="1700" dirty="0"/>
          </a:p>
        </p:txBody>
      </p:sp>
      <p:sp>
        <p:nvSpPr>
          <p:cNvPr id="6" name="Shape 4"/>
          <p:cNvSpPr/>
          <p:nvPr/>
        </p:nvSpPr>
        <p:spPr>
          <a:xfrm>
            <a:off x="5059534" y="0"/>
            <a:ext cx="7132161" cy="6858000"/>
          </a:xfrm>
          <a:prstGeom prst="rect">
            <a:avLst/>
          </a:prstGeom>
          <a:solidFill>
            <a:srgbClr val="F3FBD6"/>
          </a:solidFill>
          <a:ln/>
        </p:spPr>
      </p:sp>
      <p:sp>
        <p:nvSpPr>
          <p:cNvPr id="7" name="Text 5"/>
          <p:cNvSpPr/>
          <p:nvPr/>
        </p:nvSpPr>
        <p:spPr>
          <a:xfrm>
            <a:off x="5567521" y="528384"/>
            <a:ext cx="6116187" cy="356592"/>
          </a:xfrm>
          <a:prstGeom prst="rect">
            <a:avLst/>
          </a:prstGeom>
          <a:noFill/>
          <a:ln/>
        </p:spPr>
        <p:txBody>
          <a:bodyPr wrap="none" lIns="0" tIns="0" rIns="0" bIns="0" rtlCol="0" anchor="t"/>
          <a:lstStyle/>
          <a:p>
            <a:pPr algn="l" indent="0" marL="0">
              <a:lnSpc>
                <a:spcPct val="90000"/>
              </a:lnSpc>
              <a:buNone/>
            </a:pPr>
            <a:r>
              <a:rPr lang="en-US" sz="2600" b="1" spc="-26" kern="100" dirty="0">
                <a:solidFill>
                  <a:srgbClr val="000000"/>
                </a:solidFill>
                <a:latin typeface="Radio Canada Big Bold" pitchFamily="34" charset="0"/>
                <a:ea typeface="Radio Canada Big Bold" pitchFamily="34" charset="-122"/>
                <a:cs typeface="Radio Canada Big Bold" pitchFamily="34" charset="-120"/>
              </a:rPr>
              <a:t>JAVA TOPICS USED</a:t>
            </a:r>
            <a:endParaRPr lang="en-US" sz="2600" dirty="0"/>
          </a:p>
        </p:txBody>
      </p:sp>
      <p:sp>
        <p:nvSpPr>
          <p:cNvPr id="8" name="Text 6"/>
          <p:cNvSpPr/>
          <p:nvPr/>
        </p:nvSpPr>
        <p:spPr>
          <a:xfrm>
            <a:off x="5567521" y="1080492"/>
            <a:ext cx="6116187" cy="2518569"/>
          </a:xfrm>
          <a:prstGeom prst="rect">
            <a:avLst/>
          </a:prstGeom>
          <a:noFill/>
          <a:ln/>
        </p:spPr>
        <p:txBody>
          <a:bodyPr wrap="square" lIns="0" tIns="0" rIns="0" bIns="0" rtlCol="0" anchor="t">
            <a:normAutofit/>
          </a:bodyPr>
          <a:lstStyle/>
          <a:p>
            <a:pPr algn="l" marL="325120" indent="-325120">
              <a:lnSpc>
                <a:spcPct val="121000"/>
              </a:lnSpc>
              <a:buSzPct val="100000"/>
              <a:buChar char="•"/>
            </a:pPr>
            <a:r>
              <a:rPr lang="en-US" sz="1600" b="1" dirty="0">
                <a:solidFill>
                  <a:srgbClr val="000000"/>
                </a:solidFill>
                <a:latin typeface="Radio Canada Bold" pitchFamily="34" charset="0"/>
                <a:ea typeface="Radio Canada Bold" pitchFamily="34" charset="-122"/>
                <a:cs typeface="Radio Canada Bold" pitchFamily="34" charset="-120"/>
              </a:rPr>
              <a:t>Scanner + data types:</a:t>
            </a:r>
            <a:pPr algn="l" marL="325120" indent="-325120">
              <a:lnSpc>
                <a:spcPct val="121000"/>
              </a:lnSpc>
              <a:buSzPct val="100000"/>
              <a:buChar char="•"/>
            </a:pPr>
            <a:r>
              <a:rPr lang="en-US" sz="1600" dirty="0">
                <a:solidFill>
                  <a:srgbClr val="000000"/>
                </a:solidFill>
                <a:latin typeface="Radio Canada" pitchFamily="34" charset="0"/>
                <a:ea typeface="Radio Canada" pitchFamily="34" charset="-122"/>
                <a:cs typeface="Radio Canada" pitchFamily="34" charset="-120"/>
              </a:rPr>
              <a:t> read customer and car details, including IDs, names, prices, and availability.</a:t>
            </a:r>
            <a:endParaRPr lang="en-US" sz="1600" dirty="0"/>
          </a:p>
          <a:p>
            <a:pPr algn="l" marL="325120" indent="-325120">
              <a:lnSpc>
                <a:spcPct val="121000"/>
              </a:lnSpc>
              <a:buSzPct val="100000"/>
              <a:buChar char="•"/>
            </a:pPr>
            <a:r>
              <a:rPr lang="en-US" sz="1600" b="1" dirty="0">
                <a:solidFill>
                  <a:srgbClr val="000000"/>
                </a:solidFill>
                <a:latin typeface="Radio Canada Bold" pitchFamily="34" charset="0"/>
                <a:ea typeface="Radio Canada Bold" pitchFamily="34" charset="-122"/>
                <a:cs typeface="Radio Canada Bold" pitchFamily="34" charset="-120"/>
              </a:rPr>
              <a:t>Classes + objects:</a:t>
            </a:r>
            <a:pPr algn="l" marL="325120" indent="-325120">
              <a:lnSpc>
                <a:spcPct val="121000"/>
              </a:lnSpc>
              <a:buSzPct val="100000"/>
              <a:buChar char="•"/>
            </a:pPr>
            <a:r>
              <a:rPr lang="en-US" sz="1600" dirty="0">
                <a:solidFill>
                  <a:srgbClr val="000000"/>
                </a:solidFill>
                <a:latin typeface="Radio Canada" pitchFamily="34" charset="0"/>
                <a:ea typeface="Radio Canada" pitchFamily="34" charset="-122"/>
                <a:cs typeface="Radio Canada" pitchFamily="34" charset="-120"/>
              </a:rPr>
              <a:t> model cars and rentals with reusable data and behavior.</a:t>
            </a:r>
            <a:endParaRPr lang="en-US" sz="1600" dirty="0"/>
          </a:p>
          <a:p>
            <a:pPr algn="l" marL="325120" indent="-325120">
              <a:lnSpc>
                <a:spcPct val="121000"/>
              </a:lnSpc>
              <a:buSzPct val="100000"/>
              <a:buChar char="•"/>
            </a:pPr>
            <a:r>
              <a:rPr lang="en-US" sz="1600" b="1" dirty="0">
                <a:solidFill>
                  <a:srgbClr val="000000"/>
                </a:solidFill>
                <a:latin typeface="Radio Canada Bold" pitchFamily="34" charset="0"/>
                <a:ea typeface="Radio Canada Bold" pitchFamily="34" charset="-122"/>
                <a:cs typeface="Radio Canada Bold" pitchFamily="34" charset="-120"/>
              </a:rPr>
              <a:t>Collections + methods:</a:t>
            </a:r>
            <a:pPr algn="l" marL="325120" indent="-325120">
              <a:lnSpc>
                <a:spcPct val="121000"/>
              </a:lnSpc>
              <a:buSzPct val="100000"/>
              <a:buChar char="•"/>
            </a:pPr>
            <a:r>
              <a:rPr lang="en-US" sz="1600" dirty="0">
                <a:solidFill>
                  <a:srgbClr val="000000"/>
                </a:solidFill>
                <a:latin typeface="Radio Canada" pitchFamily="34" charset="0"/>
                <a:ea typeface="Radio Canada" pitchFamily="34" charset="-122"/>
                <a:cs typeface="Radio Canada" pitchFamily="34" charset="-120"/>
              </a:rPr>
              <a:t> organize cars and reservations and perform booking actions.</a:t>
            </a:r>
            <a:endParaRPr lang="en-US" sz="1600" dirty="0"/>
          </a:p>
          <a:p>
            <a:pPr algn="l" marL="325120" indent="-325120">
              <a:lnSpc>
                <a:spcPct val="121000"/>
              </a:lnSpc>
              <a:buSzPct val="100000"/>
              <a:buChar char="•"/>
            </a:pPr>
            <a:r>
              <a:rPr lang="en-US" sz="1600" b="1" dirty="0">
                <a:solidFill>
                  <a:srgbClr val="000000"/>
                </a:solidFill>
                <a:latin typeface="Radio Canada Bold" pitchFamily="34" charset="0"/>
                <a:ea typeface="Radio Canada Bold" pitchFamily="34" charset="-122"/>
                <a:cs typeface="Radio Canada Bold" pitchFamily="34" charset="-120"/>
              </a:rPr>
              <a:t>Dates + logic:</a:t>
            </a:r>
            <a:pPr algn="l" marL="325120" indent="-325120">
              <a:lnSpc>
                <a:spcPct val="121000"/>
              </a:lnSpc>
              <a:buSzPct val="100000"/>
              <a:buChar char="•"/>
            </a:pPr>
            <a:r>
              <a:rPr lang="en-US" sz="1600" dirty="0">
                <a:solidFill>
                  <a:srgbClr val="000000"/>
                </a:solidFill>
                <a:latin typeface="Radio Canada" pitchFamily="34" charset="0"/>
                <a:ea typeface="Radio Canada" pitchFamily="34" charset="-122"/>
                <a:cs typeface="Radio Canada" pitchFamily="34" charset="-120"/>
              </a:rPr>
              <a:t> validate reservation dates and process records with conditions and loops.</a:t>
            </a:r>
            <a:endParaRPr lang="en-US" sz="1600" dirty="0"/>
          </a:p>
        </p:txBody>
      </p:sp>
      <p:pic>
        <p:nvPicPr>
          <p:cNvPr id="9" name="Image 0" descr="preencoded.png">    </p:cNvPr>
          <p:cNvPicPr>
            <a:picLocks noChangeAspect="1"/>
          </p:cNvPicPr>
          <p:nvPr/>
        </p:nvPicPr>
        <p:blipFill>
          <a:blip r:embed="rId1"/>
          <a:stretch>
            <a:fillRect/>
          </a:stretch>
        </p:blipFill>
        <p:spPr>
          <a:xfrm>
            <a:off x="11124922" y="228600"/>
            <a:ext cx="761981" cy="762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4754840" cy="6858000"/>
          </a:xfrm>
          <a:prstGeom prst="rect">
            <a:avLst/>
          </a:prstGeom>
          <a:solidFill>
            <a:srgbClr val="F3FBD6"/>
          </a:solidFill>
          <a:ln/>
        </p:spPr>
      </p:sp>
      <p:sp>
        <p:nvSpPr>
          <p:cNvPr id="3" name="Text 1"/>
          <p:cNvSpPr/>
          <p:nvPr/>
        </p:nvSpPr>
        <p:spPr>
          <a:xfrm>
            <a:off x="507987" y="509615"/>
            <a:ext cx="4246853" cy="213320"/>
          </a:xfrm>
          <a:prstGeom prst="rect">
            <a:avLst/>
          </a:prstGeom>
          <a:noFill/>
          <a:ln/>
        </p:spPr>
        <p:txBody>
          <a:bodyPr wrap="none" lIns="0" tIns="0" rIns="0" bIns="0" rtlCol="0" anchor="t"/>
          <a:lstStyle/>
          <a:p>
            <a:pPr algn="l" indent="0" marL="0">
              <a:lnSpc>
                <a:spcPct val="100000"/>
              </a:lnSpc>
              <a:buNone/>
            </a:pPr>
            <a:r>
              <a:rPr lang="en-US" sz="1400" spc="14" kern="100" dirty="0">
                <a:solidFill>
                  <a:srgbClr val="000000"/>
                </a:solidFill>
                <a:latin typeface="Radio Canada SemiBold" pitchFamily="34" charset="0"/>
                <a:ea typeface="Radio Canada SemiBold" pitchFamily="34" charset="-122"/>
                <a:cs typeface="Radio Canada SemiBold" pitchFamily="34" charset="-120"/>
              </a:rPr>
              <a:t>JAVA FEATURE MAPPING</a:t>
            </a:r>
            <a:endParaRPr lang="en-US" sz="1400" dirty="0"/>
          </a:p>
        </p:txBody>
      </p:sp>
      <p:sp>
        <p:nvSpPr>
          <p:cNvPr id="4" name="Text 2"/>
          <p:cNvSpPr/>
          <p:nvPr/>
        </p:nvSpPr>
        <p:spPr>
          <a:xfrm>
            <a:off x="507987" y="843431"/>
            <a:ext cx="3738866" cy="1042392"/>
          </a:xfrm>
          <a:prstGeom prst="rect">
            <a:avLst/>
          </a:prstGeom>
          <a:noFill/>
          <a:ln/>
        </p:spPr>
        <p:txBody>
          <a:bodyPr wrap="square" lIns="0" tIns="0" rIns="0" bIns="0" rtlCol="0" anchor="t">
            <a:normAutofit/>
          </a:bodyPr>
          <a:lstStyle/>
          <a:p>
            <a:pPr algn="l" indent="0" marL="0">
              <a:lnSpc>
                <a:spcPct val="90000"/>
              </a:lnSpc>
              <a:buNone/>
            </a:pPr>
            <a:r>
              <a:rPr lang="en-US" sz="3800" b="1" spc="-38" kern="100" dirty="0">
                <a:solidFill>
                  <a:srgbClr val="000000"/>
                </a:solidFill>
                <a:latin typeface="Radio Canada Big Bold" pitchFamily="34" charset="0"/>
                <a:ea typeface="Radio Canada Big Bold" pitchFamily="34" charset="-122"/>
                <a:cs typeface="Radio Canada Big Bold" pitchFamily="34" charset="-120"/>
              </a:rPr>
              <a:t>CHECK-IN &amp; CHECK-OUT</a:t>
            </a:r>
            <a:endParaRPr lang="en-US" sz="3800" dirty="0"/>
          </a:p>
        </p:txBody>
      </p:sp>
      <p:sp>
        <p:nvSpPr>
          <p:cNvPr id="5" name="Text 3"/>
          <p:cNvSpPr/>
          <p:nvPr/>
        </p:nvSpPr>
        <p:spPr>
          <a:xfrm>
            <a:off x="507987" y="2065338"/>
            <a:ext cx="3738866" cy="939105"/>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000000"/>
                </a:solidFill>
                <a:latin typeface="Radio Canada" pitchFamily="34" charset="0"/>
                <a:ea typeface="Radio Canada" pitchFamily="34" charset="-122"/>
                <a:cs typeface="Radio Canada" pitchFamily="34" charset="-120"/>
              </a:rPr>
              <a:t>Streamline vehicle handover and returns with automated status tracking and guided workflows.</a:t>
            </a:r>
            <a:endParaRPr lang="en-US" sz="1700" dirty="0"/>
          </a:p>
        </p:txBody>
      </p:sp>
      <p:sp>
        <p:nvSpPr>
          <p:cNvPr id="6" name="Shape 4"/>
          <p:cNvSpPr/>
          <p:nvPr/>
        </p:nvSpPr>
        <p:spPr>
          <a:xfrm>
            <a:off x="5059534" y="0"/>
            <a:ext cx="7132161" cy="6858000"/>
          </a:xfrm>
          <a:prstGeom prst="rect">
            <a:avLst/>
          </a:prstGeom>
          <a:solidFill>
            <a:srgbClr val="E3F4F1"/>
          </a:solidFill>
          <a:ln/>
        </p:spPr>
      </p:sp>
      <p:sp>
        <p:nvSpPr>
          <p:cNvPr id="7" name="Text 5"/>
          <p:cNvSpPr/>
          <p:nvPr/>
        </p:nvSpPr>
        <p:spPr>
          <a:xfrm>
            <a:off x="5567521" y="528384"/>
            <a:ext cx="6116187" cy="356592"/>
          </a:xfrm>
          <a:prstGeom prst="rect">
            <a:avLst/>
          </a:prstGeom>
          <a:noFill/>
          <a:ln/>
        </p:spPr>
        <p:txBody>
          <a:bodyPr wrap="none" lIns="0" tIns="0" rIns="0" bIns="0" rtlCol="0" anchor="t"/>
          <a:lstStyle/>
          <a:p>
            <a:pPr algn="l" indent="0" marL="0">
              <a:lnSpc>
                <a:spcPct val="90000"/>
              </a:lnSpc>
              <a:buNone/>
            </a:pPr>
            <a:r>
              <a:rPr lang="en-US" sz="2600" b="1" spc="-26" kern="100" dirty="0">
                <a:solidFill>
                  <a:srgbClr val="000000"/>
                </a:solidFill>
                <a:latin typeface="Radio Canada Big Bold" pitchFamily="34" charset="0"/>
                <a:ea typeface="Radio Canada Big Bold" pitchFamily="34" charset="-122"/>
                <a:cs typeface="Radio Canada Big Bold" pitchFamily="34" charset="-120"/>
              </a:rPr>
              <a:t>JAVA TOPICS USED</a:t>
            </a:r>
            <a:endParaRPr lang="en-US" sz="2600" dirty="0"/>
          </a:p>
        </p:txBody>
      </p:sp>
      <p:sp>
        <p:nvSpPr>
          <p:cNvPr id="8" name="Text 6"/>
          <p:cNvSpPr/>
          <p:nvPr/>
        </p:nvSpPr>
        <p:spPr>
          <a:xfrm>
            <a:off x="5567521" y="1080492"/>
            <a:ext cx="6116187" cy="1727101"/>
          </a:xfrm>
          <a:prstGeom prst="rect">
            <a:avLst/>
          </a:prstGeom>
          <a:noFill/>
          <a:ln/>
        </p:spPr>
        <p:txBody>
          <a:bodyPr wrap="square" lIns="0" tIns="0" rIns="0" bIns="0" rtlCol="0" anchor="t">
            <a:normAutofit/>
          </a:bodyPr>
          <a:lstStyle/>
          <a:p>
            <a:pPr algn="l" marL="345440" indent="-345440">
              <a:lnSpc>
                <a:spcPct val="121000"/>
              </a:lnSpc>
              <a:buSzPct val="100000"/>
              <a:buChar char="•"/>
            </a:pPr>
            <a:r>
              <a:rPr lang="en-US" sz="1700" b="1" dirty="0">
                <a:solidFill>
                  <a:srgbClr val="000000"/>
                </a:solidFill>
                <a:latin typeface="Radio Canada Bold" pitchFamily="34" charset="0"/>
                <a:ea typeface="Radio Canada Bold" pitchFamily="34" charset="-122"/>
                <a:cs typeface="Radio Canada Bold" pitchFamily="34" charset="-120"/>
              </a:rPr>
              <a:t>Methods:</a:t>
            </a:r>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 organize check-in and check-out actions</a:t>
            </a:r>
            <a:endParaRPr lang="en-US" sz="1700" dirty="0"/>
          </a:p>
          <a:p>
            <a:pPr algn="l" marL="345440" indent="-345440">
              <a:lnSpc>
                <a:spcPct val="121000"/>
              </a:lnSpc>
              <a:buSzPct val="100000"/>
              <a:buChar char="•"/>
            </a:pPr>
            <a:r>
              <a:rPr lang="en-US" sz="1700" b="1" dirty="0">
                <a:solidFill>
                  <a:srgbClr val="000000"/>
                </a:solidFill>
                <a:latin typeface="Radio Canada Bold" pitchFamily="34" charset="0"/>
                <a:ea typeface="Radio Canada Bold" pitchFamily="34" charset="-122"/>
                <a:cs typeface="Radio Canada Bold" pitchFamily="34" charset="-120"/>
              </a:rPr>
              <a:t>Conditions:</a:t>
            </a:r>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 handle missing or unavailable vehicles</a:t>
            </a:r>
            <a:endParaRPr lang="en-US" sz="1700" dirty="0"/>
          </a:p>
          <a:p>
            <a:pPr algn="l" marL="345440" indent="-345440">
              <a:lnSpc>
                <a:spcPct val="121000"/>
              </a:lnSpc>
              <a:buSzPct val="100000"/>
              <a:buChar char="•"/>
            </a:pPr>
            <a:r>
              <a:rPr lang="en-US" sz="1700" b="1" dirty="0">
                <a:solidFill>
                  <a:srgbClr val="000000"/>
                </a:solidFill>
                <a:latin typeface="Radio Canada Bold" pitchFamily="34" charset="0"/>
                <a:ea typeface="Radio Canada Bold" pitchFamily="34" charset="-122"/>
                <a:cs typeface="Radio Canada Bold" pitchFamily="34" charset="-120"/>
              </a:rPr>
              <a:t>Menu flow:</a:t>
            </a:r>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 guide users through rental options and next steps</a:t>
            </a:r>
            <a:endParaRPr lang="en-US" sz="1700" dirty="0"/>
          </a:p>
          <a:p>
            <a:pPr algn="l" marL="345440" indent="-345440">
              <a:lnSpc>
                <a:spcPct val="121000"/>
              </a:lnSpc>
              <a:buSzPct val="100000"/>
              <a:buChar char="•"/>
            </a:pPr>
            <a:r>
              <a:rPr lang="en-US" sz="1700" b="1" dirty="0">
                <a:solidFill>
                  <a:srgbClr val="000000"/>
                </a:solidFill>
                <a:latin typeface="Radio Canada Bold" pitchFamily="34" charset="0"/>
                <a:ea typeface="Radio Canada Bold" pitchFamily="34" charset="-122"/>
                <a:cs typeface="Radio Canada Bold" pitchFamily="34" charset="-120"/>
              </a:rPr>
              <a:t>For-each loop:</a:t>
            </a:r>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 review each vehicle in the fleet</a:t>
            </a:r>
            <a:endParaRPr lang="en-US" sz="1700" dirty="0"/>
          </a:p>
        </p:txBody>
      </p:sp>
      <p:pic>
        <p:nvPicPr>
          <p:cNvPr id="9" name="Image 0" descr="preencoded.png">    </p:cNvPr>
          <p:cNvPicPr>
            <a:picLocks noChangeAspect="1"/>
          </p:cNvPicPr>
          <p:nvPr/>
        </p:nvPicPr>
        <p:blipFill>
          <a:blip r:embed="rId1"/>
          <a:stretch>
            <a:fillRect/>
          </a:stretch>
        </p:blipFill>
        <p:spPr>
          <a:xfrm>
            <a:off x="11124922" y="228600"/>
            <a:ext cx="761981" cy="762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4754840" cy="6858000"/>
          </a:xfrm>
          <a:prstGeom prst="rect">
            <a:avLst/>
          </a:prstGeom>
          <a:solidFill>
            <a:srgbClr val="E3F4F1"/>
          </a:solidFill>
          <a:ln/>
        </p:spPr>
      </p:sp>
      <p:sp>
        <p:nvSpPr>
          <p:cNvPr id="3" name="Text 1"/>
          <p:cNvSpPr/>
          <p:nvPr/>
        </p:nvSpPr>
        <p:spPr>
          <a:xfrm>
            <a:off x="507987" y="509615"/>
            <a:ext cx="4246853" cy="213320"/>
          </a:xfrm>
          <a:prstGeom prst="rect">
            <a:avLst/>
          </a:prstGeom>
          <a:noFill/>
          <a:ln/>
        </p:spPr>
        <p:txBody>
          <a:bodyPr wrap="none" lIns="0" tIns="0" rIns="0" bIns="0" rtlCol="0" anchor="t"/>
          <a:lstStyle/>
          <a:p>
            <a:pPr algn="l" indent="0" marL="0">
              <a:lnSpc>
                <a:spcPct val="100000"/>
              </a:lnSpc>
              <a:buNone/>
            </a:pPr>
            <a:r>
              <a:rPr lang="en-US" sz="1400" spc="14" kern="100" dirty="0">
                <a:solidFill>
                  <a:srgbClr val="000000"/>
                </a:solidFill>
                <a:latin typeface="Radio Canada SemiBold" pitchFamily="34" charset="0"/>
                <a:ea typeface="Radio Canada SemiBold" pitchFamily="34" charset="-122"/>
                <a:cs typeface="Radio Canada SemiBold" pitchFamily="34" charset="-120"/>
              </a:rPr>
              <a:t>JAVA FEATURE MAPPING</a:t>
            </a:r>
            <a:endParaRPr lang="en-US" sz="1400" dirty="0"/>
          </a:p>
        </p:txBody>
      </p:sp>
      <p:sp>
        <p:nvSpPr>
          <p:cNvPr id="4" name="Text 2"/>
          <p:cNvSpPr/>
          <p:nvPr/>
        </p:nvSpPr>
        <p:spPr>
          <a:xfrm>
            <a:off x="507987" y="843431"/>
            <a:ext cx="3738866" cy="1042392"/>
          </a:xfrm>
          <a:prstGeom prst="rect">
            <a:avLst/>
          </a:prstGeom>
          <a:noFill/>
          <a:ln/>
        </p:spPr>
        <p:txBody>
          <a:bodyPr wrap="square" lIns="0" tIns="0" rIns="0" bIns="0" rtlCol="0" anchor="t">
            <a:normAutofit/>
          </a:bodyPr>
          <a:lstStyle/>
          <a:p>
            <a:pPr algn="l" indent="0" marL="0">
              <a:lnSpc>
                <a:spcPct val="90000"/>
              </a:lnSpc>
              <a:buNone/>
            </a:pPr>
            <a:r>
              <a:rPr lang="en-US" sz="3800" b="1" spc="-38" kern="100" dirty="0">
                <a:solidFill>
                  <a:srgbClr val="000000"/>
                </a:solidFill>
                <a:latin typeface="Radio Canada Big Bold" pitchFamily="34" charset="0"/>
                <a:ea typeface="Radio Canada Big Bold" pitchFamily="34" charset="-122"/>
                <a:cs typeface="Radio Canada Big Bold" pitchFamily="34" charset="-120"/>
              </a:rPr>
              <a:t>REAL-TIME GPS TRACKING</a:t>
            </a:r>
            <a:endParaRPr lang="en-US" sz="3800" dirty="0"/>
          </a:p>
        </p:txBody>
      </p:sp>
      <p:sp>
        <p:nvSpPr>
          <p:cNvPr id="5" name="Text 3"/>
          <p:cNvSpPr/>
          <p:nvPr/>
        </p:nvSpPr>
        <p:spPr>
          <a:xfrm>
            <a:off x="507987" y="2065338"/>
            <a:ext cx="3738866" cy="939105"/>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000000"/>
                </a:solidFill>
                <a:latin typeface="Radio Canada" pitchFamily="34" charset="0"/>
                <a:ea typeface="Radio Canada" pitchFamily="34" charset="-122"/>
                <a:cs typeface="Radio Canada" pitchFamily="34" charset="-120"/>
              </a:rPr>
              <a:t>Monitor vehicle locations, availability, and status in real-time across the entire fleet.</a:t>
            </a:r>
            <a:endParaRPr lang="en-US" sz="1700" dirty="0"/>
          </a:p>
        </p:txBody>
      </p:sp>
      <p:sp>
        <p:nvSpPr>
          <p:cNvPr id="6" name="Shape 4"/>
          <p:cNvSpPr/>
          <p:nvPr/>
        </p:nvSpPr>
        <p:spPr>
          <a:xfrm>
            <a:off x="5059534" y="0"/>
            <a:ext cx="7132161" cy="6858000"/>
          </a:xfrm>
          <a:prstGeom prst="rect">
            <a:avLst/>
          </a:prstGeom>
          <a:solidFill>
            <a:srgbClr val="F3FBD6"/>
          </a:solidFill>
          <a:ln/>
        </p:spPr>
      </p:sp>
      <p:sp>
        <p:nvSpPr>
          <p:cNvPr id="7" name="Text 5"/>
          <p:cNvSpPr/>
          <p:nvPr/>
        </p:nvSpPr>
        <p:spPr>
          <a:xfrm>
            <a:off x="5567521" y="528384"/>
            <a:ext cx="6116187" cy="356592"/>
          </a:xfrm>
          <a:prstGeom prst="rect">
            <a:avLst/>
          </a:prstGeom>
          <a:noFill/>
          <a:ln/>
        </p:spPr>
        <p:txBody>
          <a:bodyPr wrap="none" lIns="0" tIns="0" rIns="0" bIns="0" rtlCol="0" anchor="t"/>
          <a:lstStyle/>
          <a:p>
            <a:pPr algn="l" indent="0" marL="0">
              <a:lnSpc>
                <a:spcPct val="90000"/>
              </a:lnSpc>
              <a:buNone/>
            </a:pPr>
            <a:r>
              <a:rPr lang="en-US" sz="2600" b="1" spc="-26" kern="100" dirty="0">
                <a:solidFill>
                  <a:srgbClr val="000000"/>
                </a:solidFill>
                <a:latin typeface="Radio Canada Big Bold" pitchFamily="34" charset="0"/>
                <a:ea typeface="Radio Canada Big Bold" pitchFamily="34" charset="-122"/>
                <a:cs typeface="Radio Canada Big Bold" pitchFamily="34" charset="-120"/>
              </a:rPr>
              <a:t>JAVA TOPICS USED</a:t>
            </a:r>
            <a:endParaRPr lang="en-US" sz="2600" dirty="0"/>
          </a:p>
        </p:txBody>
      </p:sp>
      <p:sp>
        <p:nvSpPr>
          <p:cNvPr id="8" name="Text 6"/>
          <p:cNvSpPr/>
          <p:nvPr/>
        </p:nvSpPr>
        <p:spPr>
          <a:xfrm>
            <a:off x="5567521" y="1080492"/>
            <a:ext cx="6116187" cy="2979241"/>
          </a:xfrm>
          <a:prstGeom prst="rect">
            <a:avLst/>
          </a:prstGeom>
          <a:noFill/>
          <a:ln/>
        </p:spPr>
        <p:txBody>
          <a:bodyPr wrap="square" lIns="0" tIns="0" rIns="0" bIns="0" rtlCol="0" anchor="t">
            <a:normAutofit/>
          </a:bodyPr>
          <a:lstStyle/>
          <a:p>
            <a:pPr algn="l" marL="345440" indent="-345440">
              <a:lnSpc>
                <a:spcPct val="121000"/>
              </a:lnSpc>
              <a:buSzPct val="100000"/>
              <a:buChar char="•"/>
            </a:pPr>
            <a:r>
              <a:rPr lang="en-US" sz="1700" b="1" dirty="0">
                <a:solidFill>
                  <a:srgbClr val="000000"/>
                </a:solidFill>
                <a:latin typeface="Radio Canada Bold" pitchFamily="34" charset="0"/>
                <a:ea typeface="Radio Canada Bold" pitchFamily="34" charset="-122"/>
                <a:cs typeface="Radio Canada Bold" pitchFamily="34" charset="-120"/>
              </a:rPr>
              <a:t>Classes &amp; objects:</a:t>
            </a:r>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 represent cars and rental records as structured objects.</a:t>
            </a:r>
            <a:endParaRPr lang="en-US" sz="1700" dirty="0"/>
          </a:p>
          <a:p>
            <a:pPr algn="l" marL="345440" indent="-345440">
              <a:lnSpc>
                <a:spcPct val="121000"/>
              </a:lnSpc>
              <a:buSzPct val="100000"/>
              <a:buChar char="•"/>
            </a:pPr>
            <a:r>
              <a:rPr lang="en-US" sz="1700" b="1" dirty="0">
                <a:solidFill>
                  <a:srgbClr val="000000"/>
                </a:solidFill>
                <a:latin typeface="Radio Canada Bold" pitchFamily="34" charset="0"/>
                <a:ea typeface="Radio Canada Bold" pitchFamily="34" charset="-122"/>
                <a:cs typeface="Radio Canada Bold" pitchFamily="34" charset="-120"/>
              </a:rPr>
              <a:t>Data types &amp; encapsulation:</a:t>
            </a:r>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 store car IDs, customer names, prices, and availability while protecting internal data.</a:t>
            </a:r>
            <a:endParaRPr lang="en-US" sz="1700" dirty="0"/>
          </a:p>
          <a:p>
            <a:pPr algn="l" marL="345440" indent="-345440">
              <a:lnSpc>
                <a:spcPct val="121000"/>
              </a:lnSpc>
              <a:buSzPct val="100000"/>
              <a:buChar char="•"/>
            </a:pPr>
            <a:r>
              <a:rPr lang="en-US" sz="1700" b="1" dirty="0">
                <a:solidFill>
                  <a:srgbClr val="000000"/>
                </a:solidFill>
                <a:latin typeface="Radio Canada Bold" pitchFamily="34" charset="0"/>
                <a:ea typeface="Radio Canada Bold" pitchFamily="34" charset="-122"/>
                <a:cs typeface="Radio Canada Bold" pitchFamily="34" charset="-120"/>
              </a:rPr>
              <a:t>ArrayList &amp; loops:</a:t>
            </a:r>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 organize the fleet in a collection and search through vehicles efficiently.</a:t>
            </a:r>
            <a:endParaRPr lang="en-US" sz="1700" dirty="0"/>
          </a:p>
          <a:p>
            <a:pPr algn="l" marL="345440" indent="-345440">
              <a:lnSpc>
                <a:spcPct val="121000"/>
              </a:lnSpc>
              <a:buSzPct val="100000"/>
              <a:buChar char="•"/>
            </a:pPr>
            <a:r>
              <a:rPr lang="en-US" sz="1700" b="1" dirty="0">
                <a:solidFill>
                  <a:srgbClr val="000000"/>
                </a:solidFill>
                <a:latin typeface="Radio Canada Bold" pitchFamily="34" charset="0"/>
                <a:ea typeface="Radio Canada Bold" pitchFamily="34" charset="-122"/>
                <a:cs typeface="Radio Canada Bold" pitchFamily="34" charset="-120"/>
              </a:rPr>
              <a:t>Conditions &amp; methods:</a:t>
            </a:r>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 check availability and calculate rental totals using reusable operations.</a:t>
            </a:r>
            <a:endParaRPr lang="en-US" sz="1700" dirty="0"/>
          </a:p>
        </p:txBody>
      </p:sp>
      <p:pic>
        <p:nvPicPr>
          <p:cNvPr id="9" name="Image 0" descr="preencoded.png">    </p:cNvPr>
          <p:cNvPicPr>
            <a:picLocks noChangeAspect="1"/>
          </p:cNvPicPr>
          <p:nvPr/>
        </p:nvPicPr>
        <p:blipFill>
          <a:blip r:embed="rId1"/>
          <a:stretch>
            <a:fillRect/>
          </a:stretch>
        </p:blipFill>
        <p:spPr>
          <a:xfrm>
            <a:off x="11124922" y="228600"/>
            <a:ext cx="761981" cy="762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4754840" cy="6858000"/>
          </a:xfrm>
          <a:prstGeom prst="rect">
            <a:avLst/>
          </a:prstGeom>
          <a:solidFill>
            <a:srgbClr val="E3F4F1"/>
          </a:solidFill>
          <a:ln/>
        </p:spPr>
      </p:sp>
      <p:sp>
        <p:nvSpPr>
          <p:cNvPr id="3" name="Text 1"/>
          <p:cNvSpPr/>
          <p:nvPr/>
        </p:nvSpPr>
        <p:spPr>
          <a:xfrm>
            <a:off x="507987" y="509615"/>
            <a:ext cx="4246853" cy="213320"/>
          </a:xfrm>
          <a:prstGeom prst="rect">
            <a:avLst/>
          </a:prstGeom>
          <a:noFill/>
          <a:ln/>
        </p:spPr>
        <p:txBody>
          <a:bodyPr wrap="none" lIns="0" tIns="0" rIns="0" bIns="0" rtlCol="0" anchor="t"/>
          <a:lstStyle/>
          <a:p>
            <a:pPr algn="l" indent="0" marL="0">
              <a:lnSpc>
                <a:spcPct val="100000"/>
              </a:lnSpc>
              <a:buNone/>
            </a:pPr>
            <a:r>
              <a:rPr lang="en-US" sz="1400" spc="14" kern="100" dirty="0">
                <a:solidFill>
                  <a:srgbClr val="000000"/>
                </a:solidFill>
                <a:latin typeface="Radio Canada SemiBold" pitchFamily="34" charset="0"/>
                <a:ea typeface="Radio Canada SemiBold" pitchFamily="34" charset="-122"/>
                <a:cs typeface="Radio Canada SemiBold" pitchFamily="34" charset="-120"/>
              </a:rPr>
              <a:t>JAVA FEATURE MAPPING</a:t>
            </a:r>
            <a:endParaRPr lang="en-US" sz="1400" dirty="0"/>
          </a:p>
        </p:txBody>
      </p:sp>
      <p:sp>
        <p:nvSpPr>
          <p:cNvPr id="4" name="Text 2"/>
          <p:cNvSpPr/>
          <p:nvPr/>
        </p:nvSpPr>
        <p:spPr>
          <a:xfrm>
            <a:off x="507987" y="843431"/>
            <a:ext cx="3738866" cy="1563588"/>
          </a:xfrm>
          <a:prstGeom prst="rect">
            <a:avLst/>
          </a:prstGeom>
          <a:noFill/>
          <a:ln/>
        </p:spPr>
        <p:txBody>
          <a:bodyPr wrap="square" lIns="0" tIns="0" rIns="0" bIns="0" rtlCol="0" anchor="t">
            <a:normAutofit/>
          </a:bodyPr>
          <a:lstStyle/>
          <a:p>
            <a:pPr algn="l" indent="0" marL="0">
              <a:lnSpc>
                <a:spcPct val="90000"/>
              </a:lnSpc>
              <a:buNone/>
            </a:pPr>
            <a:r>
              <a:rPr lang="en-US" sz="3800" b="1" spc="-38" kern="100" dirty="0">
                <a:solidFill>
                  <a:srgbClr val="000000"/>
                </a:solidFill>
                <a:latin typeface="Radio Canada Big Bold" pitchFamily="34" charset="0"/>
                <a:ea typeface="Radio Canada Big Bold" pitchFamily="34" charset="-122"/>
                <a:cs typeface="Radio Canada Big Bold" pitchFamily="34" charset="-120"/>
              </a:rPr>
              <a:t>BILLING &amp; REPORTING DASHBOARD</a:t>
            </a:r>
            <a:endParaRPr lang="en-US" sz="3800" dirty="0"/>
          </a:p>
        </p:txBody>
      </p:sp>
      <p:sp>
        <p:nvSpPr>
          <p:cNvPr id="5" name="Text 3"/>
          <p:cNvSpPr/>
          <p:nvPr/>
        </p:nvSpPr>
        <p:spPr>
          <a:xfrm>
            <a:off x="507987" y="2586534"/>
            <a:ext cx="3738866" cy="939105"/>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000000"/>
                </a:solidFill>
                <a:latin typeface="Radio Canada" pitchFamily="34" charset="0"/>
                <a:ea typeface="Radio Canada" pitchFamily="34" charset="-122"/>
                <a:cs typeface="Radio Canada" pitchFamily="34" charset="-120"/>
              </a:rPr>
              <a:t>Generate accurate invoices and gain insights into fleet performance with automated reporting.</a:t>
            </a:r>
            <a:endParaRPr lang="en-US" sz="1700" dirty="0"/>
          </a:p>
        </p:txBody>
      </p:sp>
      <p:sp>
        <p:nvSpPr>
          <p:cNvPr id="6" name="Shape 4"/>
          <p:cNvSpPr/>
          <p:nvPr/>
        </p:nvSpPr>
        <p:spPr>
          <a:xfrm>
            <a:off x="5059534" y="0"/>
            <a:ext cx="7132161" cy="6858000"/>
          </a:xfrm>
          <a:prstGeom prst="rect">
            <a:avLst/>
          </a:prstGeom>
          <a:solidFill>
            <a:srgbClr val="F3FBD6"/>
          </a:solidFill>
          <a:ln/>
        </p:spPr>
      </p:sp>
      <p:sp>
        <p:nvSpPr>
          <p:cNvPr id="7" name="Text 5"/>
          <p:cNvSpPr/>
          <p:nvPr/>
        </p:nvSpPr>
        <p:spPr>
          <a:xfrm>
            <a:off x="5567521" y="535813"/>
            <a:ext cx="6116187" cy="383977"/>
          </a:xfrm>
          <a:prstGeom prst="rect">
            <a:avLst/>
          </a:prstGeom>
          <a:noFill/>
          <a:ln/>
        </p:spPr>
        <p:txBody>
          <a:bodyPr wrap="none" lIns="0" tIns="0" rIns="0" bIns="0" rtlCol="0" anchor="t"/>
          <a:lstStyle/>
          <a:p>
            <a:pPr algn="l" indent="0" marL="0">
              <a:lnSpc>
                <a:spcPct val="90000"/>
              </a:lnSpc>
              <a:buNone/>
            </a:pPr>
            <a:r>
              <a:rPr lang="en-US" sz="2800" b="1" spc="-28" kern="100" dirty="0">
                <a:solidFill>
                  <a:srgbClr val="000000"/>
                </a:solidFill>
                <a:latin typeface="Radio Canada Big Bold" pitchFamily="34" charset="0"/>
                <a:ea typeface="Radio Canada Big Bold" pitchFamily="34" charset="-122"/>
                <a:cs typeface="Radio Canada Big Bold" pitchFamily="34" charset="-120"/>
              </a:rPr>
              <a:t>JAVA TOPICS USED</a:t>
            </a:r>
            <a:endParaRPr lang="en-US" sz="2800" dirty="0"/>
          </a:p>
        </p:txBody>
      </p:sp>
      <p:sp>
        <p:nvSpPr>
          <p:cNvPr id="8" name="Text 6"/>
          <p:cNvSpPr/>
          <p:nvPr/>
        </p:nvSpPr>
        <p:spPr>
          <a:xfrm>
            <a:off x="5567521" y="1107877"/>
            <a:ext cx="6116187" cy="2353171"/>
          </a:xfrm>
          <a:prstGeom prst="rect">
            <a:avLst/>
          </a:prstGeom>
          <a:noFill/>
          <a:ln/>
        </p:spPr>
        <p:txBody>
          <a:bodyPr wrap="square" lIns="0" tIns="0" rIns="0" bIns="0" rtlCol="0" anchor="t">
            <a:normAutofit/>
          </a:bodyPr>
          <a:lstStyle/>
          <a:p>
            <a:pPr algn="l" marL="345440" indent="-345440">
              <a:lnSpc>
                <a:spcPct val="121000"/>
              </a:lnSpc>
              <a:buSzPct val="100000"/>
              <a:buChar char="•"/>
            </a:pPr>
            <a:r>
              <a:rPr lang="en-US" sz="1700" b="1" dirty="0">
                <a:solidFill>
                  <a:srgbClr val="000000"/>
                </a:solidFill>
                <a:latin typeface="Radio Canada Bold" pitchFamily="34" charset="0"/>
                <a:ea typeface="Radio Canada Bold" pitchFamily="34" charset="-122"/>
                <a:cs typeface="Radio Canada Bold" pitchFamily="34" charset="-120"/>
              </a:rPr>
              <a:t>Methods:</a:t>
            </a:r>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 calculate rental totals and record bookings.</a:t>
            </a:r>
            <a:endParaRPr lang="en-US" sz="1700" dirty="0"/>
          </a:p>
          <a:p>
            <a:pPr algn="l" marL="345440" indent="-345440">
              <a:lnSpc>
                <a:spcPct val="121000"/>
              </a:lnSpc>
              <a:buSzPct val="100000"/>
              <a:buChar char="•"/>
            </a:pPr>
            <a:r>
              <a:rPr lang="en-US" sz="1700" b="1" dirty="0">
                <a:solidFill>
                  <a:srgbClr val="000000"/>
                </a:solidFill>
                <a:latin typeface="Radio Canada Bold" pitchFamily="34" charset="0"/>
                <a:ea typeface="Radio Canada Bold" pitchFamily="34" charset="-122"/>
                <a:cs typeface="Radio Canada Bold" pitchFamily="34" charset="-120"/>
              </a:rPr>
              <a:t>Operators &amp; data types:</a:t>
            </a:r>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 use numeric values for prices and totals, with named values for rental information.</a:t>
            </a:r>
            <a:endParaRPr lang="en-US" sz="1700" dirty="0"/>
          </a:p>
          <a:p>
            <a:pPr algn="l" marL="345440" indent="-345440">
              <a:lnSpc>
                <a:spcPct val="121000"/>
              </a:lnSpc>
              <a:buSzPct val="100000"/>
              <a:buChar char="•"/>
            </a:pPr>
            <a:r>
              <a:rPr lang="en-US" sz="1700" b="1" dirty="0">
                <a:solidFill>
                  <a:srgbClr val="000000"/>
                </a:solidFill>
                <a:latin typeface="Radio Canada Bold" pitchFamily="34" charset="0"/>
                <a:ea typeface="Radio Canada Bold" pitchFamily="34" charset="-122"/>
                <a:cs typeface="Radio Canada Bold" pitchFamily="34" charset="-120"/>
              </a:rPr>
              <a:t>ArrayList iteration:</a:t>
            </a:r>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 store rental records in a resizable list and process each record in turn.</a:t>
            </a:r>
            <a:endParaRPr lang="en-US" sz="1700" dirty="0"/>
          </a:p>
          <a:p>
            <a:pPr algn="l" marL="345440" indent="-345440">
              <a:lnSpc>
                <a:spcPct val="121000"/>
              </a:lnSpc>
              <a:buSzPct val="100000"/>
              <a:buChar char="•"/>
            </a:pPr>
            <a:r>
              <a:rPr lang="en-US" sz="1700" b="1" dirty="0">
                <a:solidFill>
                  <a:srgbClr val="000000"/>
                </a:solidFill>
                <a:latin typeface="Radio Canada Bold" pitchFamily="34" charset="0"/>
                <a:ea typeface="Radio Canada Bold" pitchFamily="34" charset="-122"/>
                <a:cs typeface="Radio Canada Bold" pitchFamily="34" charset="-120"/>
              </a:rPr>
              <a:t>Validation &amp; reporting:</a:t>
            </a:r>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 check for empty records before creating clear billing and performance reports.</a:t>
            </a:r>
            <a:endParaRPr lang="en-US" sz="1700" dirty="0"/>
          </a:p>
        </p:txBody>
      </p:sp>
      <p:pic>
        <p:nvPicPr>
          <p:cNvPr id="9" name="Image 0" descr="preencoded.png">    </p:cNvPr>
          <p:cNvPicPr>
            <a:picLocks noChangeAspect="1"/>
          </p:cNvPicPr>
          <p:nvPr/>
        </p:nvPicPr>
        <p:blipFill>
          <a:blip r:embed="rId1"/>
          <a:stretch>
            <a:fillRect/>
          </a:stretch>
        </p:blipFill>
        <p:spPr>
          <a:xfrm>
            <a:off x="11124922" y="228600"/>
            <a:ext cx="761981" cy="762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4754840" cy="6858000"/>
          </a:xfrm>
          <a:prstGeom prst="rect">
            <a:avLst/>
          </a:prstGeom>
          <a:solidFill>
            <a:srgbClr val="F3FBD6"/>
          </a:solidFill>
          <a:ln/>
        </p:spPr>
      </p:sp>
      <p:sp>
        <p:nvSpPr>
          <p:cNvPr id="3" name="Text 1"/>
          <p:cNvSpPr/>
          <p:nvPr/>
        </p:nvSpPr>
        <p:spPr>
          <a:xfrm>
            <a:off x="507987" y="509615"/>
            <a:ext cx="4246853" cy="213320"/>
          </a:xfrm>
          <a:prstGeom prst="rect">
            <a:avLst/>
          </a:prstGeom>
          <a:noFill/>
          <a:ln/>
        </p:spPr>
        <p:txBody>
          <a:bodyPr wrap="none" lIns="0" tIns="0" rIns="0" bIns="0" rtlCol="0" anchor="t"/>
          <a:lstStyle/>
          <a:p>
            <a:pPr algn="l" indent="0" marL="0">
              <a:lnSpc>
                <a:spcPct val="100000"/>
              </a:lnSpc>
              <a:buNone/>
            </a:pPr>
            <a:r>
              <a:rPr lang="en-US" sz="1400" spc="14" kern="100" dirty="0">
                <a:solidFill>
                  <a:srgbClr val="000000"/>
                </a:solidFill>
                <a:latin typeface="Radio Canada SemiBold" pitchFamily="34" charset="0"/>
                <a:ea typeface="Radio Canada SemiBold" pitchFamily="34" charset="-122"/>
                <a:cs typeface="Radio Canada SemiBold" pitchFamily="34" charset="-120"/>
              </a:rPr>
              <a:t>JAVA FEATURE MAPPING</a:t>
            </a:r>
            <a:endParaRPr lang="en-US" sz="1400" dirty="0"/>
          </a:p>
        </p:txBody>
      </p:sp>
      <p:sp>
        <p:nvSpPr>
          <p:cNvPr id="4" name="Text 2"/>
          <p:cNvSpPr/>
          <p:nvPr/>
        </p:nvSpPr>
        <p:spPr>
          <a:xfrm>
            <a:off x="507987" y="843431"/>
            <a:ext cx="3738866" cy="1563588"/>
          </a:xfrm>
          <a:prstGeom prst="rect">
            <a:avLst/>
          </a:prstGeom>
          <a:noFill/>
          <a:ln/>
        </p:spPr>
        <p:txBody>
          <a:bodyPr wrap="square" lIns="0" tIns="0" rIns="0" bIns="0" rtlCol="0" anchor="t">
            <a:normAutofit/>
          </a:bodyPr>
          <a:lstStyle/>
          <a:p>
            <a:pPr algn="l" indent="0" marL="0">
              <a:lnSpc>
                <a:spcPct val="90000"/>
              </a:lnSpc>
              <a:buNone/>
            </a:pPr>
            <a:r>
              <a:rPr lang="en-US" sz="3800" b="1" spc="-38" kern="100" dirty="0">
                <a:solidFill>
                  <a:srgbClr val="000000"/>
                </a:solidFill>
                <a:latin typeface="Radio Canada Big Bold" pitchFamily="34" charset="0"/>
                <a:ea typeface="Radio Canada Big Bold" pitchFamily="34" charset="-122"/>
                <a:cs typeface="Radio Canada Big Bold" pitchFamily="34" charset="-120"/>
              </a:rPr>
              <a:t>AUTOMATED MAINTENANCE ALERTS</a:t>
            </a:r>
            <a:endParaRPr lang="en-US" sz="3800" dirty="0"/>
          </a:p>
        </p:txBody>
      </p:sp>
      <p:sp>
        <p:nvSpPr>
          <p:cNvPr id="5" name="Text 3"/>
          <p:cNvSpPr/>
          <p:nvPr/>
        </p:nvSpPr>
        <p:spPr>
          <a:xfrm>
            <a:off x="507987" y="2586534"/>
            <a:ext cx="3738866" cy="939105"/>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000000"/>
                </a:solidFill>
                <a:latin typeface="Radio Canada" pitchFamily="34" charset="0"/>
                <a:ea typeface="Radio Canada" pitchFamily="34" charset="-122"/>
                <a:cs typeface="Radio Canada" pitchFamily="34" charset="-120"/>
              </a:rPr>
              <a:t>Review service records, detect maintenance needs, and surface timely alerts for the fleet team.</a:t>
            </a:r>
            <a:endParaRPr lang="en-US" sz="1700" dirty="0"/>
          </a:p>
        </p:txBody>
      </p:sp>
      <p:sp>
        <p:nvSpPr>
          <p:cNvPr id="6" name="Shape 4"/>
          <p:cNvSpPr/>
          <p:nvPr/>
        </p:nvSpPr>
        <p:spPr>
          <a:xfrm>
            <a:off x="5059534" y="0"/>
            <a:ext cx="7132161" cy="6858000"/>
          </a:xfrm>
          <a:prstGeom prst="rect">
            <a:avLst/>
          </a:prstGeom>
          <a:solidFill>
            <a:srgbClr val="E3F4F1"/>
          </a:solidFill>
          <a:ln/>
        </p:spPr>
      </p:sp>
      <p:sp>
        <p:nvSpPr>
          <p:cNvPr id="7" name="Text 5"/>
          <p:cNvSpPr/>
          <p:nvPr/>
        </p:nvSpPr>
        <p:spPr>
          <a:xfrm>
            <a:off x="5567521" y="528384"/>
            <a:ext cx="6116187" cy="356592"/>
          </a:xfrm>
          <a:prstGeom prst="rect">
            <a:avLst/>
          </a:prstGeom>
          <a:noFill/>
          <a:ln/>
        </p:spPr>
        <p:txBody>
          <a:bodyPr wrap="none" lIns="0" tIns="0" rIns="0" bIns="0" rtlCol="0" anchor="t"/>
          <a:lstStyle/>
          <a:p>
            <a:pPr algn="l" indent="0" marL="0">
              <a:lnSpc>
                <a:spcPct val="90000"/>
              </a:lnSpc>
              <a:buNone/>
            </a:pPr>
            <a:r>
              <a:rPr lang="en-US" sz="2600" b="1" spc="-26" kern="100" dirty="0">
                <a:solidFill>
                  <a:srgbClr val="000000"/>
                </a:solidFill>
                <a:latin typeface="Radio Canada Big Bold" pitchFamily="34" charset="0"/>
                <a:ea typeface="Radio Canada Big Bold" pitchFamily="34" charset="-122"/>
                <a:cs typeface="Radio Canada Big Bold" pitchFamily="34" charset="-120"/>
              </a:rPr>
              <a:t>JAVA TOPICS USED</a:t>
            </a:r>
            <a:endParaRPr lang="en-US" sz="2600" dirty="0"/>
          </a:p>
        </p:txBody>
      </p:sp>
      <p:sp>
        <p:nvSpPr>
          <p:cNvPr id="8" name="Text 6"/>
          <p:cNvSpPr/>
          <p:nvPr/>
        </p:nvSpPr>
        <p:spPr>
          <a:xfrm>
            <a:off x="5567521" y="1080492"/>
            <a:ext cx="6116187" cy="2666206"/>
          </a:xfrm>
          <a:prstGeom prst="rect">
            <a:avLst/>
          </a:prstGeom>
          <a:noFill/>
          <a:ln/>
        </p:spPr>
        <p:txBody>
          <a:bodyPr wrap="square" lIns="0" tIns="0" rIns="0" bIns="0" rtlCol="0" anchor="t">
            <a:normAutofit/>
          </a:bodyPr>
          <a:lstStyle/>
          <a:p>
            <a:pPr algn="l" marL="345440" indent="-345440">
              <a:lnSpc>
                <a:spcPct val="121000"/>
              </a:lnSpc>
              <a:buSzPct val="100000"/>
              <a:buChar char="•"/>
            </a:pPr>
            <a:r>
              <a:rPr lang="en-US" sz="1700" b="1" dirty="0">
                <a:solidFill>
                  <a:srgbClr val="000000"/>
                </a:solidFill>
                <a:latin typeface="Radio Canada Bold" pitchFamily="34" charset="0"/>
                <a:ea typeface="Radio Canada Bold" pitchFamily="34" charset="-122"/>
                <a:cs typeface="Radio Canada Bold" pitchFamily="34" charset="-120"/>
              </a:rPr>
              <a:t>Arrays / ArrayList:</a:t>
            </a:r>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 Store fleet data such as cars and rental records.</a:t>
            </a:r>
            <a:endParaRPr lang="en-US" sz="1700" dirty="0"/>
          </a:p>
          <a:p>
            <a:pPr algn="l" marL="345440" indent="-345440">
              <a:lnSpc>
                <a:spcPct val="121000"/>
              </a:lnSpc>
              <a:buSzPct val="100000"/>
              <a:buChar char="•"/>
            </a:pPr>
            <a:r>
              <a:rPr lang="en-US" sz="1700" b="1" dirty="0">
                <a:solidFill>
                  <a:srgbClr val="000000"/>
                </a:solidFill>
                <a:latin typeface="Radio Canada Bold" pitchFamily="34" charset="0"/>
                <a:ea typeface="Radio Canada Bold" pitchFamily="34" charset="-122"/>
                <a:cs typeface="Radio Canada Bold" pitchFamily="34" charset="-120"/>
              </a:rPr>
              <a:t>Conditions:</a:t>
            </a:r>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 Check vehicle status and availability to flag cars needing attention.</a:t>
            </a:r>
            <a:endParaRPr lang="en-US" sz="1700" dirty="0"/>
          </a:p>
          <a:p>
            <a:pPr algn="l" marL="345440" indent="-345440">
              <a:lnSpc>
                <a:spcPct val="121000"/>
              </a:lnSpc>
              <a:buSzPct val="100000"/>
              <a:buChar char="•"/>
            </a:pPr>
            <a:r>
              <a:rPr lang="en-US" sz="1700" b="1" dirty="0">
                <a:solidFill>
                  <a:srgbClr val="000000"/>
                </a:solidFill>
                <a:latin typeface="Radio Canada Bold" pitchFamily="34" charset="0"/>
                <a:ea typeface="Radio Canada Bold" pitchFamily="34" charset="-122"/>
                <a:cs typeface="Radio Canada Bold" pitchFamily="34" charset="-120"/>
              </a:rPr>
              <a:t>Loops and methods:</a:t>
            </a:r>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 Review each vehicle and run maintenance checks.</a:t>
            </a:r>
            <a:endParaRPr lang="en-US" sz="1700" dirty="0"/>
          </a:p>
          <a:p>
            <a:pPr algn="l" marL="345440" indent="-345440">
              <a:lnSpc>
                <a:spcPct val="121000"/>
              </a:lnSpc>
              <a:buSzPct val="100000"/>
              <a:buChar char="•"/>
            </a:pPr>
            <a:r>
              <a:rPr lang="en-US" sz="1700" b="1" dirty="0">
                <a:solidFill>
                  <a:srgbClr val="000000"/>
                </a:solidFill>
                <a:latin typeface="Radio Canada Bold" pitchFamily="34" charset="0"/>
                <a:ea typeface="Radio Canada Bold" pitchFamily="34" charset="-122"/>
                <a:cs typeface="Radio Canada Bold" pitchFamily="34" charset="-120"/>
              </a:rPr>
              <a:t>Exception handling:</a:t>
            </a:r>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 Handle incomplete or malformed service records safely.</a:t>
            </a:r>
            <a:endParaRPr lang="en-US" sz="1700" dirty="0"/>
          </a:p>
        </p:txBody>
      </p:sp>
      <p:pic>
        <p:nvPicPr>
          <p:cNvPr id="9" name="Image 0" descr="preencoded.png">    </p:cNvPr>
          <p:cNvPicPr>
            <a:picLocks noChangeAspect="1"/>
          </p:cNvPicPr>
          <p:nvPr/>
        </p:nvPicPr>
        <p:blipFill>
          <a:blip r:embed="rId1"/>
          <a:stretch>
            <a:fillRect/>
          </a:stretch>
        </p:blipFill>
        <p:spPr>
          <a:xfrm>
            <a:off x="11124922" y="228600"/>
            <a:ext cx="761981" cy="762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943451" cy="6858000"/>
          </a:xfrm>
          <a:prstGeom prst="rect">
            <a:avLst/>
          </a:prstGeom>
          <a:solidFill>
            <a:srgbClr val="E3F4F1"/>
          </a:solidFill>
          <a:ln/>
        </p:spPr>
      </p:sp>
      <p:sp>
        <p:nvSpPr>
          <p:cNvPr id="3" name="Text 1"/>
          <p:cNvSpPr/>
          <p:nvPr/>
        </p:nvSpPr>
        <p:spPr>
          <a:xfrm>
            <a:off x="507987" y="509615"/>
            <a:ext cx="5435464" cy="213320"/>
          </a:xfrm>
          <a:prstGeom prst="rect">
            <a:avLst/>
          </a:prstGeom>
          <a:noFill/>
          <a:ln/>
        </p:spPr>
        <p:txBody>
          <a:bodyPr wrap="none" lIns="0" tIns="0" rIns="0" bIns="0" rtlCol="0" anchor="t"/>
          <a:lstStyle/>
          <a:p>
            <a:pPr algn="l" indent="0" marL="0">
              <a:lnSpc>
                <a:spcPct val="100000"/>
              </a:lnSpc>
              <a:buNone/>
            </a:pPr>
            <a:r>
              <a:rPr lang="en-US" sz="1400" spc="14" kern="100" dirty="0">
                <a:solidFill>
                  <a:srgbClr val="000000"/>
                </a:solidFill>
                <a:latin typeface="Radio Canada SemiBold" pitchFamily="34" charset="0"/>
                <a:ea typeface="Radio Canada SemiBold" pitchFamily="34" charset="-122"/>
                <a:cs typeface="Radio Canada SemiBold" pitchFamily="34" charset="-120"/>
              </a:rPr>
              <a:t>SYSTEM EVOLUTION</a:t>
            </a:r>
            <a:endParaRPr lang="en-US" sz="1400" dirty="0"/>
          </a:p>
        </p:txBody>
      </p:sp>
      <p:sp>
        <p:nvSpPr>
          <p:cNvPr id="4" name="Text 2"/>
          <p:cNvSpPr/>
          <p:nvPr/>
        </p:nvSpPr>
        <p:spPr>
          <a:xfrm>
            <a:off x="507987" y="843431"/>
            <a:ext cx="4927477" cy="521196"/>
          </a:xfrm>
          <a:prstGeom prst="rect">
            <a:avLst/>
          </a:prstGeom>
          <a:noFill/>
          <a:ln/>
        </p:spPr>
        <p:txBody>
          <a:bodyPr wrap="none" lIns="0" tIns="0" rIns="0" bIns="0" rtlCol="0" anchor="t"/>
          <a:lstStyle/>
          <a:p>
            <a:pPr algn="l" indent="0" marL="0">
              <a:lnSpc>
                <a:spcPct val="90000"/>
              </a:lnSpc>
              <a:buNone/>
            </a:pPr>
            <a:r>
              <a:rPr lang="en-US" sz="3800" b="1" spc="-38" kern="100" dirty="0">
                <a:solidFill>
                  <a:srgbClr val="000000"/>
                </a:solidFill>
                <a:latin typeface="Radio Canada Big Bold" pitchFamily="34" charset="0"/>
                <a:ea typeface="Radio Canada Big Bold" pitchFamily="34" charset="-122"/>
                <a:cs typeface="Radio Canada Big Bold" pitchFamily="34" charset="-120"/>
              </a:rPr>
              <a:t>FUTURE SCOPE</a:t>
            </a:r>
            <a:endParaRPr lang="en-US" sz="3800" dirty="0"/>
          </a:p>
        </p:txBody>
      </p:sp>
      <p:sp>
        <p:nvSpPr>
          <p:cNvPr id="5" name="Text 3"/>
          <p:cNvSpPr/>
          <p:nvPr/>
        </p:nvSpPr>
        <p:spPr>
          <a:xfrm>
            <a:off x="507987" y="1544141"/>
            <a:ext cx="4927477" cy="626070"/>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000000"/>
                </a:solidFill>
                <a:latin typeface="Radio Canada" pitchFamily="34" charset="0"/>
                <a:ea typeface="Radio Canada" pitchFamily="34" charset="-122"/>
                <a:cs typeface="Radio Canada" pitchFamily="34" charset="-120"/>
              </a:rPr>
              <a:t>Simple new features to make the Car Rental Fleet Management System better.</a:t>
            </a:r>
            <a:endParaRPr lang="en-US" sz="1700" dirty="0"/>
          </a:p>
        </p:txBody>
      </p:sp>
      <p:sp>
        <p:nvSpPr>
          <p:cNvPr id="6" name="Shape 4"/>
          <p:cNvSpPr/>
          <p:nvPr/>
        </p:nvSpPr>
        <p:spPr>
          <a:xfrm>
            <a:off x="6248244" y="0"/>
            <a:ext cx="5943451" cy="6858000"/>
          </a:xfrm>
          <a:prstGeom prst="rect">
            <a:avLst/>
          </a:prstGeom>
          <a:solidFill>
            <a:srgbClr val="F3FBD6"/>
          </a:solidFill>
          <a:ln/>
        </p:spPr>
      </p:sp>
      <p:sp>
        <p:nvSpPr>
          <p:cNvPr id="7" name="Text 5"/>
          <p:cNvSpPr/>
          <p:nvPr/>
        </p:nvSpPr>
        <p:spPr>
          <a:xfrm>
            <a:off x="6756231" y="535813"/>
            <a:ext cx="4927477" cy="383977"/>
          </a:xfrm>
          <a:prstGeom prst="rect">
            <a:avLst/>
          </a:prstGeom>
          <a:noFill/>
          <a:ln/>
        </p:spPr>
        <p:txBody>
          <a:bodyPr wrap="none" lIns="0" tIns="0" rIns="0" bIns="0" rtlCol="0" anchor="t"/>
          <a:lstStyle/>
          <a:p>
            <a:pPr algn="l" indent="0" marL="0">
              <a:lnSpc>
                <a:spcPct val="90000"/>
              </a:lnSpc>
              <a:buNone/>
            </a:pPr>
            <a:r>
              <a:rPr lang="en-US" sz="2800" b="1" spc="-28" kern="100" dirty="0">
                <a:solidFill>
                  <a:srgbClr val="000000"/>
                </a:solidFill>
                <a:latin typeface="Radio Canada Big Bold" pitchFamily="34" charset="0"/>
                <a:ea typeface="Radio Canada Big Bold" pitchFamily="34" charset="-122"/>
                <a:cs typeface="Radio Canada Big Bold" pitchFamily="34" charset="-120"/>
              </a:rPr>
              <a:t>POTENTIAL ENHANCEMENTS</a:t>
            </a:r>
            <a:endParaRPr lang="en-US" sz="2800" dirty="0"/>
          </a:p>
        </p:txBody>
      </p:sp>
      <p:sp>
        <p:nvSpPr>
          <p:cNvPr id="8" name="Text 6"/>
          <p:cNvSpPr/>
          <p:nvPr/>
        </p:nvSpPr>
        <p:spPr>
          <a:xfrm>
            <a:off x="6756231" y="1107877"/>
            <a:ext cx="4927477" cy="1986161"/>
          </a:xfrm>
          <a:prstGeom prst="rect">
            <a:avLst/>
          </a:prstGeom>
          <a:noFill/>
          <a:ln/>
        </p:spPr>
        <p:txBody>
          <a:bodyPr wrap="square" lIns="0" tIns="0" rIns="0" bIns="0" rtlCol="0" anchor="t">
            <a:normAutofit/>
          </a:bodyPr>
          <a:lstStyle/>
          <a:p>
            <a:pPr algn="l" marL="345440" indent="-345440">
              <a:lnSpc>
                <a:spcPct val="121000"/>
              </a:lnSpc>
              <a:buSzPct val="100000"/>
              <a:buChar char="•"/>
            </a:pPr>
            <a:r>
              <a:rPr lang="en-US" sz="1700" b="1" dirty="0">
                <a:solidFill>
                  <a:srgbClr val="000000"/>
                </a:solidFill>
                <a:latin typeface="Radio Canada Bold" pitchFamily="34" charset="0"/>
                <a:ea typeface="Radio Canada Bold" pitchFamily="34" charset="-122"/>
                <a:cs typeface="Radio Canada Bold" pitchFamily="34" charset="-120"/>
              </a:rPr>
              <a:t>Easy Mobile Booking:</a:t>
            </a:r>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 Book cars quickly from a phone.</a:t>
            </a:r>
            <a:endParaRPr lang="en-US" sz="1700" dirty="0"/>
          </a:p>
          <a:p>
            <a:pPr algn="l" marL="345440" indent="-345440">
              <a:lnSpc>
                <a:spcPct val="121000"/>
              </a:lnSpc>
              <a:buSzPct val="100000"/>
              <a:buChar char="•"/>
            </a:pPr>
            <a:r>
              <a:rPr lang="en-US" sz="1700" b="1" dirty="0">
                <a:solidFill>
                  <a:srgbClr val="000000"/>
                </a:solidFill>
                <a:latin typeface="Radio Canada Bold" pitchFamily="34" charset="0"/>
                <a:ea typeface="Radio Canada Bold" pitchFamily="34" charset="-122"/>
                <a:cs typeface="Radio Canada Bold" pitchFamily="34" charset="-120"/>
              </a:rPr>
              <a:t>Smart Suggestions:</a:t>
            </a:r>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 Show helpful car choices and prices.</a:t>
            </a:r>
            <a:endParaRPr lang="en-US" sz="1700" dirty="0"/>
          </a:p>
          <a:p>
            <a:pPr algn="l" marL="345440" indent="-345440">
              <a:lnSpc>
                <a:spcPct val="121000"/>
              </a:lnSpc>
              <a:buSzPct val="100000"/>
              <a:buChar char="•"/>
            </a:pPr>
            <a:r>
              <a:rPr lang="en-US" sz="1700" b="1" dirty="0">
                <a:solidFill>
                  <a:srgbClr val="000000"/>
                </a:solidFill>
                <a:latin typeface="Radio Canada Bold" pitchFamily="34" charset="0"/>
                <a:ea typeface="Radio Canada Bold" pitchFamily="34" charset="-122"/>
                <a:cs typeface="Radio Canada Bold" pitchFamily="34" charset="-120"/>
              </a:rPr>
              <a:t>Better Data &amp; Maintenance:</a:t>
            </a:r>
            <a:pPr algn="l" marL="345440" indent="-345440">
              <a:lnSpc>
                <a:spcPct val="121000"/>
              </a:lnSpc>
              <a:buSzPct val="100000"/>
              <a:buChar char="•"/>
            </a:pPr>
            <a:r>
              <a:rPr lang="en-US" sz="1700" dirty="0">
                <a:solidFill>
                  <a:srgbClr val="000000"/>
                </a:solidFill>
                <a:latin typeface="Radio Canada" pitchFamily="34" charset="0"/>
                <a:ea typeface="Radio Canada" pitchFamily="34" charset="-122"/>
                <a:cs typeface="Radio Canada" pitchFamily="34" charset="-120"/>
              </a:rPr>
              <a:t> Use data to spot problems early and keep cars running well.</a:t>
            </a:r>
            <a:endParaRPr lang="en-US" sz="1700" dirty="0"/>
          </a:p>
        </p:txBody>
      </p:sp>
      <p:pic>
        <p:nvPicPr>
          <p:cNvPr id="9" name="Image 0" descr="preencoded.png">    </p:cNvPr>
          <p:cNvPicPr>
            <a:picLocks noChangeAspect="1"/>
          </p:cNvPicPr>
          <p:nvPr/>
        </p:nvPicPr>
        <p:blipFill>
          <a:blip r:embed="rId1"/>
          <a:stretch>
            <a:fillRect/>
          </a:stretch>
        </p:blipFill>
        <p:spPr>
          <a:xfrm>
            <a:off x="11124922" y="228600"/>
            <a:ext cx="761981" cy="762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2793930" y="2159000"/>
            <a:ext cx="6603835" cy="2540000"/>
          </a:xfrm>
          <a:prstGeom prst="roundRect">
            <a:avLst>
              <a:gd name="adj" fmla="val 7650"/>
            </a:avLst>
          </a:prstGeom>
          <a:solidFill>
            <a:srgbClr val="FFFFFF"/>
          </a:solidFill>
          <a:ln/>
        </p:spPr>
      </p:sp>
      <p:sp>
        <p:nvSpPr>
          <p:cNvPr id="3" name="Text 1"/>
          <p:cNvSpPr/>
          <p:nvPr/>
        </p:nvSpPr>
        <p:spPr>
          <a:xfrm>
            <a:off x="3327317" y="2676716"/>
            <a:ext cx="5537061" cy="932656"/>
          </a:xfrm>
          <a:prstGeom prst="rect">
            <a:avLst/>
          </a:prstGeom>
          <a:noFill/>
          <a:ln/>
        </p:spPr>
        <p:txBody>
          <a:bodyPr wrap="none" lIns="0" tIns="0" rIns="0" bIns="0" rtlCol="0" anchor="t"/>
          <a:lstStyle/>
          <a:p>
            <a:pPr algn="ctr" indent="0" marL="0">
              <a:lnSpc>
                <a:spcPct val="85000"/>
              </a:lnSpc>
              <a:buNone/>
            </a:pPr>
            <a:r>
              <a:rPr lang="en-US" sz="7200" b="1" spc="-108" kern="100" dirty="0">
                <a:solidFill>
                  <a:srgbClr val="0B2A33"/>
                </a:solidFill>
                <a:latin typeface="Radio Canada Big Bold" pitchFamily="34" charset="0"/>
                <a:ea typeface="Radio Canada Big Bold" pitchFamily="34" charset="-122"/>
                <a:cs typeface="Radio Canada Big Bold" pitchFamily="34" charset="-120"/>
              </a:rPr>
              <a:t>THANK YOU</a:t>
            </a:r>
            <a:endParaRPr lang="en-US" sz="7200" dirty="0"/>
          </a:p>
        </p:txBody>
      </p:sp>
      <p:pic>
        <p:nvPicPr>
          <p:cNvPr id="4" name="Image 0" descr="preencoded.png">    </p:cNvPr>
          <p:cNvPicPr>
            <a:picLocks noChangeAspect="1"/>
          </p:cNvPicPr>
          <p:nvPr/>
        </p:nvPicPr>
        <p:blipFill>
          <a:blip r:embed="rId1"/>
          <a:stretch>
            <a:fillRect/>
          </a:stretch>
        </p:blipFill>
        <p:spPr>
          <a:xfrm>
            <a:off x="11124922" y="228600"/>
            <a:ext cx="761981" cy="762000"/>
          </a:xfrm>
          <a:prstGeom prst="rect">
            <a:avLst/>
          </a:prstGeom>
        </p:spPr>
      </p:pic>
      <p:pic>
        <p:nvPicPr>
          <p:cNvPr id="5" name="Image 1" descr="preencoded.png">    </p:cNvPr>
          <p:cNvPicPr>
            <a:picLocks noChangeAspect="1"/>
          </p:cNvPicPr>
          <p:nvPr/>
        </p:nvPicPr>
        <p:blipFill>
          <a:blip r:embed="rId2"/>
          <a:stretch>
            <a:fillRect/>
          </a:stretch>
        </p:blipFill>
        <p:spPr>
          <a:xfrm>
            <a:off x="11124922" y="228600"/>
            <a:ext cx="761981" cy="762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2026-10-12T13:37:58Z</dcterms:created>
  <dcterms:modified xsi:type="dcterms:W3CDTF">2026-10-12T13:37:58Z</dcterms:modified>
</cp:coreProperties>
</file>